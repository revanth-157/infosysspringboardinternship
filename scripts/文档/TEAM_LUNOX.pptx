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48B0B1-3F47-46FC-A5E6-4F80D7998AFD}" v="15" dt="2025-09-23T16:57:39.255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43" autoAdjust="0"/>
    <p:restoredTop sz="94660"/>
  </p:normalViewPr>
  <p:slideViewPr>
    <p:cSldViewPr snapToGrid="0">
      <p:cViewPr varScale="1">
        <p:scale>
          <a:sx n="78" d="100"/>
          <a:sy n="78" d="100"/>
        </p:scale>
        <p:origin x="88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vanth Parna" userId="be43f4da590c7050" providerId="LiveId" clId="{BB3D0243-2F92-40E6-A611-8AEBBA6B0ED9}"/>
    <pc:docChg chg="undo custSel modSld">
      <pc:chgData name="Revanth Parna" userId="be43f4da590c7050" providerId="LiveId" clId="{BB3D0243-2F92-40E6-A611-8AEBBA6B0ED9}" dt="2025-09-23T18:17:29.187" v="1481" actId="20577"/>
      <pc:docMkLst>
        <pc:docMk/>
      </pc:docMkLst>
      <pc:sldChg chg="modSp mod">
        <pc:chgData name="Revanth Parna" userId="be43f4da590c7050" providerId="LiveId" clId="{BB3D0243-2F92-40E6-A611-8AEBBA6B0ED9}" dt="2025-09-23T16:57:39.255" v="1241"/>
        <pc:sldMkLst>
          <pc:docMk/>
          <pc:sldMk cId="0" sldId="256"/>
        </pc:sldMkLst>
        <pc:spChg chg="mod">
          <ac:chgData name="Revanth Parna" userId="be43f4da590c7050" providerId="LiveId" clId="{BB3D0243-2F92-40E6-A611-8AEBBA6B0ED9}" dt="2025-09-23T16:57:39.255" v="1241"/>
          <ac:spMkLst>
            <pc:docMk/>
            <pc:sldMk cId="0" sldId="256"/>
            <ac:spMk id="97" creationId="{00000000-0000-0000-0000-000000000000}"/>
          </ac:spMkLst>
        </pc:spChg>
        <pc:spChg chg="mod">
          <ac:chgData name="Revanth Parna" userId="be43f4da590c7050" providerId="LiveId" clId="{BB3D0243-2F92-40E6-A611-8AEBBA6B0ED9}" dt="2025-09-23T16:56:53.567" v="1187" actId="20577"/>
          <ac:spMkLst>
            <pc:docMk/>
            <pc:sldMk cId="0" sldId="256"/>
            <ac:spMk id="98" creationId="{00000000-0000-0000-0000-000000000000}"/>
          </ac:spMkLst>
        </pc:spChg>
        <pc:spChg chg="mod">
          <ac:chgData name="Revanth Parna" userId="be43f4da590c7050" providerId="LiveId" clId="{BB3D0243-2F92-40E6-A611-8AEBBA6B0ED9}" dt="2025-09-23T16:31:49.079" v="23" actId="14100"/>
          <ac:spMkLst>
            <pc:docMk/>
            <pc:sldMk cId="0" sldId="256"/>
            <ac:spMk id="99" creationId="{00000000-0000-0000-0000-000000000000}"/>
          </ac:spMkLst>
        </pc:spChg>
        <pc:picChg chg="mod">
          <ac:chgData name="Revanth Parna" userId="be43f4da590c7050" providerId="LiveId" clId="{BB3D0243-2F92-40E6-A611-8AEBBA6B0ED9}" dt="2025-09-23T16:31:44.928" v="22" actId="1076"/>
          <ac:picMkLst>
            <pc:docMk/>
            <pc:sldMk cId="0" sldId="256"/>
            <ac:picMk id="96" creationId="{00000000-0000-0000-0000-000000000000}"/>
          </ac:picMkLst>
        </pc:picChg>
      </pc:sldChg>
      <pc:sldChg chg="modSp mod">
        <pc:chgData name="Revanth Parna" userId="be43f4da590c7050" providerId="LiveId" clId="{BB3D0243-2F92-40E6-A611-8AEBBA6B0ED9}" dt="2025-09-23T16:57:31.919" v="1228"/>
        <pc:sldMkLst>
          <pc:docMk/>
          <pc:sldMk cId="0" sldId="257"/>
        </pc:sldMkLst>
        <pc:spChg chg="mod">
          <ac:chgData name="Revanth Parna" userId="be43f4da590c7050" providerId="LiveId" clId="{BB3D0243-2F92-40E6-A611-8AEBBA6B0ED9}" dt="2025-09-23T16:57:31.919" v="1228"/>
          <ac:spMkLst>
            <pc:docMk/>
            <pc:sldMk cId="0" sldId="257"/>
            <ac:spMk id="104" creationId="{00000000-0000-0000-0000-000000000000}"/>
          </ac:spMkLst>
        </pc:spChg>
      </pc:sldChg>
      <pc:sldChg chg="addSp modSp mod">
        <pc:chgData name="Revanth Parna" userId="be43f4da590c7050" providerId="LiveId" clId="{BB3D0243-2F92-40E6-A611-8AEBBA6B0ED9}" dt="2025-09-23T18:17:29.187" v="1481" actId="20577"/>
        <pc:sldMkLst>
          <pc:docMk/>
          <pc:sldMk cId="0" sldId="259"/>
        </pc:sldMkLst>
        <pc:spChg chg="add">
          <ac:chgData name="Revanth Parna" userId="be43f4da590c7050" providerId="LiveId" clId="{BB3D0243-2F92-40E6-A611-8AEBBA6B0ED9}" dt="2025-09-23T16:32:29.079" v="24"/>
          <ac:spMkLst>
            <pc:docMk/>
            <pc:sldMk cId="0" sldId="259"/>
            <ac:spMk id="2" creationId="{344AC6DE-6857-66AB-DDB8-065154B45E0C}"/>
          </ac:spMkLst>
        </pc:spChg>
        <pc:spChg chg="mod">
          <ac:chgData name="Revanth Parna" userId="be43f4da590c7050" providerId="LiveId" clId="{BB3D0243-2F92-40E6-A611-8AEBBA6B0ED9}" dt="2025-09-23T18:17:29.187" v="1481" actId="20577"/>
          <ac:spMkLst>
            <pc:docMk/>
            <pc:sldMk cId="0" sldId="259"/>
            <ac:spMk id="132" creationId="{00000000-0000-0000-0000-000000000000}"/>
          </ac:spMkLst>
        </pc:spChg>
        <pc:spChg chg="mod">
          <ac:chgData name="Revanth Parna" userId="be43f4da590c7050" providerId="LiveId" clId="{BB3D0243-2F92-40E6-A611-8AEBBA6B0ED9}" dt="2025-09-23T17:01:06.024" v="1250" actId="20577"/>
          <ac:spMkLst>
            <pc:docMk/>
            <pc:sldMk cId="0" sldId="259"/>
            <ac:spMk id="133" creationId="{00000000-0000-0000-0000-000000000000}"/>
          </ac:spMkLst>
        </pc:spChg>
        <pc:spChg chg="mod">
          <ac:chgData name="Revanth Parna" userId="be43f4da590c7050" providerId="LiveId" clId="{BB3D0243-2F92-40E6-A611-8AEBBA6B0ED9}" dt="2025-09-23T16:43:35.738" v="542" actId="313"/>
          <ac:spMkLst>
            <pc:docMk/>
            <pc:sldMk cId="0" sldId="259"/>
            <ac:spMk id="134" creationId="{00000000-0000-0000-0000-000000000000}"/>
          </ac:spMkLst>
        </pc:spChg>
      </pc:sldChg>
      <pc:sldChg chg="modSp mod">
        <pc:chgData name="Revanth Parna" userId="be43f4da590c7050" providerId="LiveId" clId="{BB3D0243-2F92-40E6-A611-8AEBBA6B0ED9}" dt="2025-09-23T16:53:07.014" v="1182" actId="20577"/>
        <pc:sldMkLst>
          <pc:docMk/>
          <pc:sldMk cId="0" sldId="261"/>
        </pc:sldMkLst>
        <pc:spChg chg="mod">
          <ac:chgData name="Revanth Parna" userId="be43f4da590c7050" providerId="LiveId" clId="{BB3D0243-2F92-40E6-A611-8AEBBA6B0ED9}" dt="2025-09-23T16:53:07.014" v="1182" actId="20577"/>
          <ac:spMkLst>
            <pc:docMk/>
            <pc:sldMk cId="0" sldId="261"/>
            <ac:spMk id="15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spcBef>
        <a:spcPts val="400"/>
      </a:spcBef>
      <a:defRPr sz="1200">
        <a:latin typeface="+mn-lt"/>
        <a:ea typeface="+mn-ea"/>
        <a:cs typeface="+mn-cs"/>
        <a:sym typeface="Calibri"/>
      </a:defRPr>
    </a:lvl1pPr>
    <a:lvl2pPr indent="228600" defTabSz="457200" latinLnBrk="0">
      <a:spcBef>
        <a:spcPts val="400"/>
      </a:spcBef>
      <a:defRPr sz="1200">
        <a:latin typeface="+mn-lt"/>
        <a:ea typeface="+mn-ea"/>
        <a:cs typeface="+mn-cs"/>
        <a:sym typeface="Calibri"/>
      </a:defRPr>
    </a:lvl2pPr>
    <a:lvl3pPr indent="457200" defTabSz="457200" latinLnBrk="0">
      <a:spcBef>
        <a:spcPts val="400"/>
      </a:spcBef>
      <a:defRPr sz="1200">
        <a:latin typeface="+mn-lt"/>
        <a:ea typeface="+mn-ea"/>
        <a:cs typeface="+mn-cs"/>
        <a:sym typeface="Calibri"/>
      </a:defRPr>
    </a:lvl3pPr>
    <a:lvl4pPr indent="685800" defTabSz="457200" latinLnBrk="0">
      <a:spcBef>
        <a:spcPts val="400"/>
      </a:spcBef>
      <a:defRPr sz="1200">
        <a:latin typeface="+mn-lt"/>
        <a:ea typeface="+mn-ea"/>
        <a:cs typeface="+mn-cs"/>
        <a:sym typeface="Calibri"/>
      </a:defRPr>
    </a:lvl4pPr>
    <a:lvl5pPr indent="914400" defTabSz="457200" latinLnBrk="0">
      <a:spcBef>
        <a:spcPts val="400"/>
      </a:spcBef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spcBef>
        <a:spcPts val="400"/>
      </a:spcBef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spcBef>
        <a:spcPts val="400"/>
      </a:spcBef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spcBef>
        <a:spcPts val="400"/>
      </a:spcBef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spcBef>
        <a:spcPts val="400"/>
      </a:spcBef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3200" cy="1470029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1" cy="1362078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963084" y="2906713"/>
            <a:ext cx="10363201" cy="1500190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8" indent="-320038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09600" y="1535112"/>
            <a:ext cx="5386917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93368" y="1535112"/>
            <a:ext cx="5389036" cy="639765"/>
          </a:xfrm>
          <a:prstGeom prst="rect">
            <a:avLst/>
          </a:prstGeom>
        </p:spPr>
        <p:txBody>
          <a:bodyPr anchor="b"/>
          <a:lstStyle/>
          <a:p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7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half" idx="21"/>
          </p:nvPr>
        </p:nvSpPr>
        <p:spPr>
          <a:xfrm>
            <a:off x="609600" y="1435103"/>
            <a:ext cx="4011088" cy="4691063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2389714" y="4800600"/>
            <a:ext cx="7315204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2389714" y="612775"/>
            <a:ext cx="7315204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389714" y="5367337"/>
            <a:ext cx="7315204" cy="80486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308749" y="6404297"/>
            <a:ext cx="273652" cy="269237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  <a:sym typeface="TradeGothic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iverr.com/" TargetMode="External"/><Relationship Id="rId3" Type="http://schemas.openxmlformats.org/officeDocument/2006/relationships/image" Target="../media/image9.png"/><Relationship Id="rId7" Type="http://schemas.openxmlformats.org/officeDocument/2006/relationships/hyperlink" Target="https://pmc.ncbi.nlm.nih.gov/articles/PMC8011436/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huggingface.co/bharatgenai/LegalParam" TargetMode="External"/><Relationship Id="rId5" Type="http://schemas.openxmlformats.org/officeDocument/2006/relationships/hyperlink" Target="https://www.sciencedirect.com/science/article/pii/S2949719124000189#sec3" TargetMode="External"/><Relationship Id="rId4" Type="http://schemas.openxmlformats.org/officeDocument/2006/relationships/hyperlink" Target="https://www.mdpi.com/2076-3417/13/12/711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24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5" name="Freeform: Shape 26"/>
          <p:cNvSpPr/>
          <p:nvPr/>
        </p:nvSpPr>
        <p:spPr>
          <a:xfrm>
            <a:off x="7060083" y="851520"/>
            <a:ext cx="4638605" cy="51549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23" h="21600" extrusionOk="0">
                <a:moveTo>
                  <a:pt x="1264" y="13095"/>
                </a:moveTo>
                <a:cubicBezTo>
                  <a:pt x="1264" y="13095"/>
                  <a:pt x="1264" y="13095"/>
                  <a:pt x="3126" y="13095"/>
                </a:cubicBezTo>
                <a:cubicBezTo>
                  <a:pt x="3243" y="13095"/>
                  <a:pt x="3355" y="13172"/>
                  <a:pt x="3412" y="13298"/>
                </a:cubicBezTo>
                <a:cubicBezTo>
                  <a:pt x="3412" y="13298"/>
                  <a:pt x="3412" y="13298"/>
                  <a:pt x="4345" y="15232"/>
                </a:cubicBezTo>
                <a:cubicBezTo>
                  <a:pt x="4405" y="15353"/>
                  <a:pt x="4405" y="15507"/>
                  <a:pt x="4345" y="15628"/>
                </a:cubicBezTo>
                <a:cubicBezTo>
                  <a:pt x="4345" y="15628"/>
                  <a:pt x="4345" y="15628"/>
                  <a:pt x="3412" y="17563"/>
                </a:cubicBezTo>
                <a:cubicBezTo>
                  <a:pt x="3355" y="17688"/>
                  <a:pt x="3243" y="17765"/>
                  <a:pt x="3126" y="17765"/>
                </a:cubicBezTo>
                <a:cubicBezTo>
                  <a:pt x="3126" y="17765"/>
                  <a:pt x="3126" y="17765"/>
                  <a:pt x="1264" y="17765"/>
                </a:cubicBezTo>
                <a:cubicBezTo>
                  <a:pt x="1143" y="17765"/>
                  <a:pt x="1035" y="17688"/>
                  <a:pt x="974" y="17563"/>
                </a:cubicBezTo>
                <a:cubicBezTo>
                  <a:pt x="974" y="17563"/>
                  <a:pt x="974" y="17563"/>
                  <a:pt x="45" y="15628"/>
                </a:cubicBezTo>
                <a:cubicBezTo>
                  <a:pt x="-15" y="15507"/>
                  <a:pt x="-15" y="15353"/>
                  <a:pt x="45" y="15232"/>
                </a:cubicBezTo>
                <a:cubicBezTo>
                  <a:pt x="45" y="15232"/>
                  <a:pt x="45" y="15232"/>
                  <a:pt x="974" y="13298"/>
                </a:cubicBezTo>
                <a:cubicBezTo>
                  <a:pt x="1035" y="13172"/>
                  <a:pt x="1143" y="13095"/>
                  <a:pt x="1264" y="13095"/>
                </a:cubicBezTo>
                <a:close/>
                <a:moveTo>
                  <a:pt x="8664" y="2389"/>
                </a:moveTo>
                <a:cubicBezTo>
                  <a:pt x="8664" y="2389"/>
                  <a:pt x="8664" y="2389"/>
                  <a:pt x="9622" y="2389"/>
                </a:cubicBezTo>
                <a:lnTo>
                  <a:pt x="9733" y="2389"/>
                </a:lnTo>
                <a:lnTo>
                  <a:pt x="9840" y="2610"/>
                </a:lnTo>
                <a:cubicBezTo>
                  <a:pt x="9988" y="2917"/>
                  <a:pt x="10161" y="3275"/>
                  <a:pt x="10362" y="3692"/>
                </a:cubicBezTo>
                <a:cubicBezTo>
                  <a:pt x="10454" y="3877"/>
                  <a:pt x="10454" y="4113"/>
                  <a:pt x="10362" y="4298"/>
                </a:cubicBezTo>
                <a:cubicBezTo>
                  <a:pt x="10362" y="4298"/>
                  <a:pt x="10362" y="4298"/>
                  <a:pt x="8933" y="7261"/>
                </a:cubicBezTo>
                <a:cubicBezTo>
                  <a:pt x="8847" y="7453"/>
                  <a:pt x="8674" y="7571"/>
                  <a:pt x="8496" y="7571"/>
                </a:cubicBezTo>
                <a:cubicBezTo>
                  <a:pt x="8496" y="7571"/>
                  <a:pt x="8496" y="7571"/>
                  <a:pt x="5644" y="7571"/>
                </a:cubicBezTo>
                <a:cubicBezTo>
                  <a:pt x="5598" y="7571"/>
                  <a:pt x="5553" y="7564"/>
                  <a:pt x="5510" y="7550"/>
                </a:cubicBezTo>
                <a:lnTo>
                  <a:pt x="5417" y="7503"/>
                </a:lnTo>
                <a:lnTo>
                  <a:pt x="5474" y="7386"/>
                </a:lnTo>
                <a:cubicBezTo>
                  <a:pt x="5984" y="6323"/>
                  <a:pt x="6637" y="4963"/>
                  <a:pt x="7473" y="3222"/>
                </a:cubicBezTo>
                <a:cubicBezTo>
                  <a:pt x="7721" y="2706"/>
                  <a:pt x="8168" y="2389"/>
                  <a:pt x="8664" y="2389"/>
                </a:cubicBezTo>
                <a:close/>
                <a:moveTo>
                  <a:pt x="5475" y="0"/>
                </a:moveTo>
                <a:cubicBezTo>
                  <a:pt x="5475" y="0"/>
                  <a:pt x="5475" y="0"/>
                  <a:pt x="8692" y="0"/>
                </a:cubicBezTo>
                <a:cubicBezTo>
                  <a:pt x="8893" y="0"/>
                  <a:pt x="9088" y="133"/>
                  <a:pt x="9185" y="350"/>
                </a:cubicBezTo>
                <a:cubicBezTo>
                  <a:pt x="9185" y="350"/>
                  <a:pt x="9185" y="350"/>
                  <a:pt x="10050" y="2143"/>
                </a:cubicBezTo>
                <a:lnTo>
                  <a:pt x="10147" y="2345"/>
                </a:lnTo>
                <a:lnTo>
                  <a:pt x="9707" y="2345"/>
                </a:lnTo>
                <a:lnTo>
                  <a:pt x="9550" y="2018"/>
                </a:lnTo>
                <a:cubicBezTo>
                  <a:pt x="8947" y="768"/>
                  <a:pt x="8947" y="768"/>
                  <a:pt x="8947" y="768"/>
                </a:cubicBezTo>
                <a:cubicBezTo>
                  <a:pt x="8860" y="576"/>
                  <a:pt x="8688" y="458"/>
                  <a:pt x="8509" y="458"/>
                </a:cubicBezTo>
                <a:cubicBezTo>
                  <a:pt x="5658" y="458"/>
                  <a:pt x="5658" y="458"/>
                  <a:pt x="5658" y="458"/>
                </a:cubicBezTo>
                <a:cubicBezTo>
                  <a:pt x="5473" y="458"/>
                  <a:pt x="5306" y="576"/>
                  <a:pt x="5214" y="768"/>
                </a:cubicBezTo>
                <a:cubicBezTo>
                  <a:pt x="3791" y="3731"/>
                  <a:pt x="3791" y="3731"/>
                  <a:pt x="3791" y="3731"/>
                </a:cubicBezTo>
                <a:cubicBezTo>
                  <a:pt x="3699" y="3916"/>
                  <a:pt x="3699" y="4152"/>
                  <a:pt x="3791" y="4337"/>
                </a:cubicBezTo>
                <a:cubicBezTo>
                  <a:pt x="5214" y="7300"/>
                  <a:pt x="5214" y="7300"/>
                  <a:pt x="5214" y="7300"/>
                </a:cubicBezTo>
                <a:cubicBezTo>
                  <a:pt x="5260" y="7396"/>
                  <a:pt x="5325" y="7474"/>
                  <a:pt x="5401" y="7527"/>
                </a:cubicBezTo>
                <a:lnTo>
                  <a:pt x="5423" y="7538"/>
                </a:lnTo>
                <a:lnTo>
                  <a:pt x="5307" y="7780"/>
                </a:lnTo>
                <a:lnTo>
                  <a:pt x="5220" y="7960"/>
                </a:lnTo>
                <a:lnTo>
                  <a:pt x="5310" y="8005"/>
                </a:lnTo>
                <a:cubicBezTo>
                  <a:pt x="5358" y="8021"/>
                  <a:pt x="5409" y="8029"/>
                  <a:pt x="5461" y="8029"/>
                </a:cubicBezTo>
                <a:cubicBezTo>
                  <a:pt x="8678" y="8029"/>
                  <a:pt x="8678" y="8029"/>
                  <a:pt x="8678" y="8029"/>
                </a:cubicBezTo>
                <a:cubicBezTo>
                  <a:pt x="8880" y="8029"/>
                  <a:pt x="9074" y="7896"/>
                  <a:pt x="9172" y="7679"/>
                </a:cubicBezTo>
                <a:cubicBezTo>
                  <a:pt x="10783" y="4337"/>
                  <a:pt x="10783" y="4337"/>
                  <a:pt x="10783" y="4337"/>
                </a:cubicBezTo>
                <a:cubicBezTo>
                  <a:pt x="10888" y="4128"/>
                  <a:pt x="10888" y="3862"/>
                  <a:pt x="10783" y="3653"/>
                </a:cubicBezTo>
                <a:cubicBezTo>
                  <a:pt x="10582" y="3235"/>
                  <a:pt x="10406" y="2870"/>
                  <a:pt x="10251" y="2550"/>
                </a:cubicBezTo>
                <a:lnTo>
                  <a:pt x="10173" y="2389"/>
                </a:lnTo>
                <a:lnTo>
                  <a:pt x="10534" y="2389"/>
                </a:lnTo>
                <a:cubicBezTo>
                  <a:pt x="11656" y="2389"/>
                  <a:pt x="13452" y="2389"/>
                  <a:pt x="16324" y="2389"/>
                </a:cubicBezTo>
                <a:cubicBezTo>
                  <a:pt x="16804" y="2389"/>
                  <a:pt x="17267" y="2706"/>
                  <a:pt x="17499" y="3222"/>
                </a:cubicBezTo>
                <a:cubicBezTo>
                  <a:pt x="17499" y="3222"/>
                  <a:pt x="17499" y="3222"/>
                  <a:pt x="21337" y="11181"/>
                </a:cubicBezTo>
                <a:cubicBezTo>
                  <a:pt x="21585" y="11677"/>
                  <a:pt x="21585" y="12312"/>
                  <a:pt x="21337" y="12808"/>
                </a:cubicBezTo>
                <a:cubicBezTo>
                  <a:pt x="21337" y="12808"/>
                  <a:pt x="21337" y="12808"/>
                  <a:pt x="17499" y="20766"/>
                </a:cubicBezTo>
                <a:cubicBezTo>
                  <a:pt x="17267" y="21282"/>
                  <a:pt x="16804" y="21600"/>
                  <a:pt x="16324" y="21600"/>
                </a:cubicBezTo>
                <a:cubicBezTo>
                  <a:pt x="16324" y="21600"/>
                  <a:pt x="16324" y="21600"/>
                  <a:pt x="8664" y="21600"/>
                </a:cubicBezTo>
                <a:cubicBezTo>
                  <a:pt x="8168" y="21600"/>
                  <a:pt x="7721" y="21282"/>
                  <a:pt x="7473" y="20766"/>
                </a:cubicBezTo>
                <a:cubicBezTo>
                  <a:pt x="7473" y="20766"/>
                  <a:pt x="7473" y="20766"/>
                  <a:pt x="3651" y="12808"/>
                </a:cubicBezTo>
                <a:cubicBezTo>
                  <a:pt x="3403" y="12312"/>
                  <a:pt x="3403" y="11677"/>
                  <a:pt x="3651" y="11181"/>
                </a:cubicBezTo>
                <a:cubicBezTo>
                  <a:pt x="3651" y="11181"/>
                  <a:pt x="3651" y="11181"/>
                  <a:pt x="5070" y="8226"/>
                </a:cubicBezTo>
                <a:lnTo>
                  <a:pt x="5190" y="7976"/>
                </a:lnTo>
                <a:lnTo>
                  <a:pt x="5186" y="7974"/>
                </a:lnTo>
                <a:cubicBezTo>
                  <a:pt x="5100" y="7914"/>
                  <a:pt x="5027" y="7826"/>
                  <a:pt x="4975" y="7718"/>
                </a:cubicBezTo>
                <a:cubicBezTo>
                  <a:pt x="4975" y="7718"/>
                  <a:pt x="4975" y="7718"/>
                  <a:pt x="3370" y="4376"/>
                </a:cubicBezTo>
                <a:cubicBezTo>
                  <a:pt x="3266" y="4167"/>
                  <a:pt x="3266" y="3901"/>
                  <a:pt x="3370" y="3692"/>
                </a:cubicBezTo>
                <a:cubicBezTo>
                  <a:pt x="3370" y="3692"/>
                  <a:pt x="3370" y="3692"/>
                  <a:pt x="4975" y="350"/>
                </a:cubicBezTo>
                <a:cubicBezTo>
                  <a:pt x="5079" y="133"/>
                  <a:pt x="5267" y="0"/>
                  <a:pt x="5475" y="0"/>
                </a:cubicBezTo>
                <a:close/>
              </a:path>
            </a:pathLst>
          </a:custGeom>
          <a:solidFill>
            <a:srgbClr val="808080">
              <a:alpha val="15000"/>
            </a:srgbClr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96" name="Picture 4" descr="Picture 4"/>
          <p:cNvPicPr>
            <a:picLocks noChangeAspect="1"/>
          </p:cNvPicPr>
          <p:nvPr/>
        </p:nvPicPr>
        <p:blipFill>
          <a:blip r:embed="rId2"/>
          <a:srcRect r="59916"/>
          <a:stretch>
            <a:fillRect/>
          </a:stretch>
        </p:blipFill>
        <p:spPr>
          <a:xfrm>
            <a:off x="8294765" y="2258753"/>
            <a:ext cx="3203511" cy="3426242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Subtitle 3"/>
          <p:cNvSpPr txBox="1">
            <a:spLocks noGrp="1"/>
          </p:cNvSpPr>
          <p:nvPr>
            <p:ph type="subTitle" sz="quarter" idx="1"/>
          </p:nvPr>
        </p:nvSpPr>
        <p:spPr>
          <a:xfrm>
            <a:off x="1565592" y="624916"/>
            <a:ext cx="8534401" cy="1752602"/>
          </a:xfrm>
          <a:prstGeom prst="rect">
            <a:avLst/>
          </a:prstGeom>
        </p:spPr>
        <p:txBody>
          <a:bodyPr/>
          <a:lstStyle/>
          <a:p>
            <a:pPr>
              <a:defRPr sz="3400" u="sng">
                <a:solidFill>
                  <a:srgbClr val="A02934"/>
                </a:solidFill>
                <a:latin typeface="Academy Engraved LET Plain:1.0"/>
                <a:ea typeface="Academy Engraved LET Plain:1.0"/>
                <a:cs typeface="Academy Engraved LET Plain:1.0"/>
                <a:sym typeface="Academy Engraved LET Plain:1.0"/>
              </a:defRPr>
            </a:pPr>
            <a:endParaRPr dirty="0"/>
          </a:p>
          <a:p>
            <a:pPr>
              <a:defRPr sz="3400" u="sng">
                <a:solidFill>
                  <a:srgbClr val="A02934"/>
                </a:solidFill>
                <a:latin typeface="Academy Engraved LET Plain:1.0"/>
                <a:ea typeface="Academy Engraved LET Plain:1.0"/>
                <a:cs typeface="Academy Engraved LET Plain:1.0"/>
                <a:sym typeface="Academy Engraved LET Plain:1.0"/>
              </a:defRPr>
            </a:pPr>
            <a:r>
              <a:rPr lang="en-IN"/>
              <a:t>JurisMind</a:t>
            </a:r>
            <a:endParaRPr dirty="0"/>
          </a:p>
        </p:txBody>
      </p:sp>
      <p:sp>
        <p:nvSpPr>
          <p:cNvPr id="98" name="Title 7"/>
          <p:cNvSpPr txBox="1">
            <a:spLocks noGrp="1"/>
          </p:cNvSpPr>
          <p:nvPr>
            <p:ph type="ctrTitle"/>
          </p:nvPr>
        </p:nvSpPr>
        <p:spPr>
          <a:xfrm>
            <a:off x="651192" y="-382312"/>
            <a:ext cx="10363201" cy="2076451"/>
          </a:xfrm>
          <a:prstGeom prst="rect">
            <a:avLst/>
          </a:prstGeom>
        </p:spPr>
        <p:txBody>
          <a:bodyPr/>
          <a:lstStyle>
            <a:lvl1pPr>
              <a:defRPr sz="4000" b="1">
                <a:solidFill>
                  <a:srgbClr val="1F497D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r>
              <a:rPr dirty="0"/>
              <a:t>SMART INDIA HACKTHON 202</a:t>
            </a:r>
            <a:r>
              <a:rPr lang="en-US" dirty="0"/>
              <a:t>5</a:t>
            </a:r>
            <a:endParaRPr dirty="0"/>
          </a:p>
        </p:txBody>
      </p:sp>
      <p:sp>
        <p:nvSpPr>
          <p:cNvPr id="99" name="TextBox 9"/>
          <p:cNvSpPr txBox="1"/>
          <p:nvPr/>
        </p:nvSpPr>
        <p:spPr>
          <a:xfrm>
            <a:off x="377005" y="2076449"/>
            <a:ext cx="7349753" cy="53637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/>
          <a:p>
            <a:endParaRPr dirty="0"/>
          </a:p>
          <a:p>
            <a:pPr marL="285750" indent="-285750" algn="just">
              <a:lnSpc>
                <a:spcPct val="200000"/>
              </a:lnSpc>
              <a:buSzPct val="100000"/>
              <a:buFont typeface="Arial"/>
              <a:buChar char="•"/>
              <a:defRPr sz="2400" b="1"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Problem Statement ID – </a:t>
            </a:r>
            <a:r>
              <a:rPr lang="en-IN" b="0" dirty="0"/>
              <a:t>25035</a:t>
            </a:r>
            <a:endParaRPr b="0" dirty="0"/>
          </a:p>
          <a:p>
            <a:pPr marL="285750" indent="-285750" algn="just">
              <a:lnSpc>
                <a:spcPct val="200000"/>
              </a:lnSpc>
              <a:buSzPct val="100000"/>
              <a:buFont typeface="Arial"/>
              <a:buChar char="•"/>
              <a:defRPr sz="2400" b="1"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Problem Statement Title- </a:t>
            </a:r>
            <a:r>
              <a:rPr lang="en-US" sz="2200" b="0" dirty="0"/>
              <a:t>Sentiment Analysis of comments received through E-consultation website</a:t>
            </a:r>
            <a:endParaRPr sz="2200" b="0" dirty="0"/>
          </a:p>
          <a:p>
            <a:pPr marL="285750" indent="-285750" algn="just">
              <a:lnSpc>
                <a:spcPct val="200000"/>
              </a:lnSpc>
              <a:buSzPct val="100000"/>
              <a:buFont typeface="Arial"/>
              <a:buChar char="•"/>
              <a:defRPr sz="2400" b="1"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Theme- </a:t>
            </a:r>
            <a:r>
              <a:rPr lang="en-US" b="0" dirty="0"/>
              <a:t>Miscellaneous</a:t>
            </a:r>
            <a:endParaRPr b="0" dirty="0"/>
          </a:p>
          <a:p>
            <a:pPr marL="285750" indent="-285750" algn="just">
              <a:lnSpc>
                <a:spcPct val="200000"/>
              </a:lnSpc>
              <a:buSzPct val="100000"/>
              <a:buFont typeface="Arial"/>
              <a:buChar char="•"/>
              <a:defRPr sz="2400" b="1"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PS Category-  </a:t>
            </a:r>
            <a:r>
              <a:rPr b="0" dirty="0"/>
              <a:t>Software</a:t>
            </a:r>
          </a:p>
          <a:p>
            <a:pPr marL="285750" indent="-285750" algn="just">
              <a:lnSpc>
                <a:spcPct val="200000"/>
              </a:lnSpc>
              <a:buSzPct val="100000"/>
              <a:buFont typeface="Arial"/>
              <a:buChar char="•"/>
              <a:defRPr sz="2400" b="1"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Team ID-</a:t>
            </a:r>
            <a:r>
              <a:rPr lang="en-US" dirty="0"/>
              <a:t> </a:t>
            </a:r>
            <a:endParaRPr dirty="0"/>
          </a:p>
          <a:p>
            <a:pPr marL="285750" indent="-285750" algn="just">
              <a:lnSpc>
                <a:spcPct val="200000"/>
              </a:lnSpc>
              <a:buSzPct val="100000"/>
              <a:buFont typeface="Arial"/>
              <a:buChar char="•"/>
              <a:defRPr sz="2400" b="1"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Team Name- </a:t>
            </a:r>
            <a:r>
              <a:rPr lang="en-US" b="0" dirty="0" err="1"/>
              <a:t>Lunox</a:t>
            </a:r>
            <a:endParaRPr b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35FAAF-5DF7-112D-2930-46630F35FF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7444" y="78210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Footer Placeholder 6"/>
          <p:cNvSpPr txBox="1"/>
          <p:nvPr/>
        </p:nvSpPr>
        <p:spPr>
          <a:xfrm>
            <a:off x="4693920" y="6404295"/>
            <a:ext cx="3112563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200">
                <a:solidFill>
                  <a:srgbClr val="FFFFFF"/>
                </a:solidFill>
                <a:latin typeface="TradeGothic"/>
                <a:ea typeface="TradeGothic"/>
                <a:cs typeface="TradeGothic"/>
                <a:sym typeface="TradeGothic"/>
              </a:defRPr>
            </a:lvl1pPr>
          </a:lstStyle>
          <a:p>
            <a:r>
              <a:t>@SIH Idea submission- Template</a:t>
            </a:r>
          </a:p>
        </p:txBody>
      </p:sp>
      <p:sp>
        <p:nvSpPr>
          <p:cNvPr id="103" name="Rectangle 8"/>
          <p:cNvSpPr/>
          <p:nvPr/>
        </p:nvSpPr>
        <p:spPr>
          <a:xfrm>
            <a:off x="-3" y="6354762"/>
            <a:ext cx="12192005" cy="503241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953735"/>
                </a:solidFill>
              </a:defRPr>
            </a:pPr>
            <a:endParaRPr/>
          </a:p>
        </p:txBody>
      </p:sp>
      <p:sp>
        <p:nvSpPr>
          <p:cNvPr id="104" name="Title 1"/>
          <p:cNvSpPr txBox="1">
            <a:spLocks noGrp="1"/>
          </p:cNvSpPr>
          <p:nvPr>
            <p:ph type="title"/>
          </p:nvPr>
        </p:nvSpPr>
        <p:spPr>
          <a:xfrm>
            <a:off x="182997" y="0"/>
            <a:ext cx="10972801" cy="1143000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rgbClr val="91264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dirty="0" err="1"/>
              <a:t>JurisMind</a:t>
            </a:r>
            <a:endParaRPr dirty="0"/>
          </a:p>
        </p:txBody>
      </p:sp>
      <p:sp>
        <p:nvSpPr>
          <p:cNvPr id="105" name="Slide Number Placeholder 5"/>
          <p:cNvSpPr txBox="1">
            <a:spLocks noGrp="1"/>
          </p:cNvSpPr>
          <p:nvPr>
            <p:ph type="sldNum" sz="quarter" idx="4294967295"/>
          </p:nvPr>
        </p:nvSpPr>
        <p:spPr>
          <a:xfrm>
            <a:off x="11393500" y="6404295"/>
            <a:ext cx="188895" cy="269237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/>
              <a:t>2</a:t>
            </a:fld>
            <a:endParaRPr/>
          </a:p>
        </p:txBody>
      </p:sp>
      <p:grpSp>
        <p:nvGrpSpPr>
          <p:cNvPr id="108" name="Oval 9"/>
          <p:cNvGrpSpPr/>
          <p:nvPr/>
        </p:nvGrpSpPr>
        <p:grpSpPr>
          <a:xfrm>
            <a:off x="329771" y="173383"/>
            <a:ext cx="1496428" cy="965062"/>
            <a:chOff x="0" y="-1"/>
            <a:chExt cx="1496427" cy="965060"/>
          </a:xfrm>
        </p:grpSpPr>
        <p:sp>
          <p:nvSpPr>
            <p:cNvPr id="106" name="Oval"/>
            <p:cNvSpPr/>
            <p:nvPr/>
          </p:nvSpPr>
          <p:spPr>
            <a:xfrm>
              <a:off x="0" y="-1"/>
              <a:ext cx="1496427" cy="965060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4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07" name="Byte Breakers"/>
            <p:cNvSpPr txBox="1"/>
            <p:nvPr/>
          </p:nvSpPr>
          <p:spPr>
            <a:xfrm>
              <a:off x="288978" y="297862"/>
              <a:ext cx="918466" cy="36932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>
                  <a:solidFill>
                    <a:srgbClr val="1A167F"/>
                  </a:solidFill>
                </a:defRPr>
              </a:lvl1pPr>
            </a:lstStyle>
            <a:p>
              <a:r>
                <a:rPr lang="en-US" dirty="0" err="1"/>
                <a:t>Lunox</a:t>
              </a:r>
              <a:endParaRPr dirty="0"/>
            </a:p>
          </p:txBody>
        </p:sp>
      </p:grpSp>
      <p:sp>
        <p:nvSpPr>
          <p:cNvPr id="110" name="Proposed Solution:…"/>
          <p:cNvSpPr txBox="1"/>
          <p:nvPr/>
        </p:nvSpPr>
        <p:spPr>
          <a:xfrm>
            <a:off x="582126" y="1307086"/>
            <a:ext cx="11336147" cy="50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r>
              <a:rPr lang="en-US" b="1" dirty="0">
                <a:sym typeface="Wingdings" panose="05000000000000000000" pitchFamily="2" charset="2"/>
              </a:rPr>
              <a:t></a:t>
            </a:r>
            <a:r>
              <a:rPr lang="en-US" b="1" dirty="0"/>
              <a:t>Problem Statement:</a:t>
            </a:r>
          </a:p>
          <a:p>
            <a:r>
              <a:rPr lang="en-US" dirty="0"/>
              <a:t>E-Consultation portals collect thousands of citizen comments, but manual analysis is inefficient and slow. Policymakers face difficulty extracting structured insights from large volumes of unorganized feedback.</a:t>
            </a:r>
          </a:p>
          <a:p>
            <a:r>
              <a:rPr lang="en-US" b="1" dirty="0">
                <a:sym typeface="Wingdings" panose="05000000000000000000" pitchFamily="2" charset="2"/>
              </a:rPr>
              <a:t></a:t>
            </a:r>
            <a:r>
              <a:rPr lang="en-US" b="1" dirty="0"/>
              <a:t>Proposed Solution:</a:t>
            </a:r>
          </a:p>
          <a:p>
            <a:r>
              <a:rPr lang="en-US" dirty="0"/>
              <a:t>A hybrid system that uses both </a:t>
            </a:r>
            <a:r>
              <a:rPr lang="en-US" b="1" dirty="0"/>
              <a:t>ML/DL models and APIs</a:t>
            </a:r>
            <a:r>
              <a:rPr lang="en-US" dirty="0"/>
              <a:t> to perform sentiment analysis, summarization, and word cloud generation. This ensures both high accuracy and real-time scalability for processing comments.</a:t>
            </a:r>
          </a:p>
          <a:p>
            <a:r>
              <a:rPr lang="en-US" b="1" dirty="0">
                <a:sym typeface="Wingdings" panose="05000000000000000000" pitchFamily="2" charset="2"/>
              </a:rPr>
              <a:t></a:t>
            </a:r>
            <a:r>
              <a:rPr lang="en-US" b="1" dirty="0"/>
              <a:t>Innovative Features:</a:t>
            </a:r>
          </a:p>
          <a:p>
            <a:r>
              <a:rPr lang="en-US" dirty="0"/>
              <a:t>Dual approach: </a:t>
            </a:r>
            <a:r>
              <a:rPr lang="en-US" b="1" dirty="0"/>
              <a:t>custom models (LegalBERT, T5)</a:t>
            </a:r>
            <a:r>
              <a:rPr lang="en-US" dirty="0"/>
              <a:t> + </a:t>
            </a:r>
            <a:r>
              <a:rPr lang="en-US" b="1" dirty="0"/>
              <a:t>APIs (LegalParam, Gemini)</a:t>
            </a:r>
            <a:r>
              <a:rPr lang="en-US" dirty="0"/>
              <a:t>.</a:t>
            </a:r>
          </a:p>
          <a:p>
            <a:r>
              <a:rPr lang="en-US" b="1" dirty="0"/>
              <a:t>Sentiment classification</a:t>
            </a:r>
            <a:r>
              <a:rPr lang="en-US" dirty="0"/>
              <a:t> into positive, negative, neutral categories.</a:t>
            </a:r>
          </a:p>
          <a:p>
            <a:r>
              <a:rPr lang="en-US" b="1" dirty="0"/>
              <a:t>Summarization of individual comments</a:t>
            </a:r>
            <a:r>
              <a:rPr lang="en-US" dirty="0"/>
              <a:t> for quick understanding.</a:t>
            </a:r>
          </a:p>
          <a:p>
            <a:r>
              <a:rPr lang="en-US" b="1" dirty="0"/>
              <a:t>Word Cloud visualization</a:t>
            </a:r>
            <a:r>
              <a:rPr lang="en-US" dirty="0"/>
              <a:t> for keyword emphasis and trending topics.</a:t>
            </a:r>
          </a:p>
          <a:p>
            <a:r>
              <a:rPr lang="en-US" dirty="0"/>
              <a:t>Integration of </a:t>
            </a:r>
            <a:r>
              <a:rPr lang="en-US" b="1" dirty="0"/>
              <a:t>ROUGE score evaluation</a:t>
            </a:r>
            <a:r>
              <a:rPr lang="en-US" dirty="0"/>
              <a:t> to measure summary quality.</a:t>
            </a:r>
          </a:p>
          <a:p>
            <a:r>
              <a:rPr lang="en-US" dirty="0"/>
              <a:t>Fast deployment with </a:t>
            </a:r>
            <a:r>
              <a:rPr lang="en-US" b="1" dirty="0"/>
              <a:t>API-based pipelines</a:t>
            </a:r>
            <a:r>
              <a:rPr lang="en-US" dirty="0"/>
              <a:t> for large-scale use.</a:t>
            </a:r>
          </a:p>
          <a:p>
            <a:r>
              <a:rPr lang="en-US" b="1" dirty="0">
                <a:sym typeface="Wingdings" panose="05000000000000000000" pitchFamily="2" charset="2"/>
              </a:rPr>
              <a:t></a:t>
            </a:r>
            <a:r>
              <a:rPr lang="en-US" b="1" dirty="0"/>
              <a:t>Uniqueness:</a:t>
            </a:r>
          </a:p>
          <a:p>
            <a:r>
              <a:rPr lang="en-US" dirty="0"/>
              <a:t>The system is unique as it combines </a:t>
            </a:r>
            <a:r>
              <a:rPr lang="en-US" b="1" dirty="0"/>
              <a:t>research-grade transformers</a:t>
            </a:r>
            <a:r>
              <a:rPr lang="en-US" dirty="0"/>
              <a:t> with </a:t>
            </a:r>
            <a:r>
              <a:rPr lang="en-US" b="1" dirty="0"/>
              <a:t>scalable APIs</a:t>
            </a:r>
            <a:r>
              <a:rPr lang="en-US" dirty="0"/>
              <a:t> in a single workflow. This dual-layer design ensures accuracy, speed, and usability, while providing insights through sentiment, summaries, and keyword visualization.</a:t>
            </a:r>
          </a:p>
          <a:p>
            <a:pPr marL="50800">
              <a:buSzPct val="76000"/>
              <a:defRPr b="1" u="sng"/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69B45C-7139-BA43-8F9C-1511AD5189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720" y="52641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Footer Placeholder 6"/>
          <p:cNvSpPr txBox="1"/>
          <p:nvPr/>
        </p:nvSpPr>
        <p:spPr>
          <a:xfrm>
            <a:off x="4693920" y="6404295"/>
            <a:ext cx="3112563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200">
                <a:solidFill>
                  <a:srgbClr val="FFFFFF"/>
                </a:solidFill>
                <a:latin typeface="TradeGothic"/>
                <a:ea typeface="TradeGothic"/>
                <a:cs typeface="TradeGothic"/>
                <a:sym typeface="TradeGothic"/>
              </a:defRPr>
            </a:lvl1pPr>
          </a:lstStyle>
          <a:p>
            <a:r>
              <a:t>@SIH Idea submission- Template</a:t>
            </a:r>
          </a:p>
        </p:txBody>
      </p:sp>
      <p:sp>
        <p:nvSpPr>
          <p:cNvPr id="113" name="Rectangle 9"/>
          <p:cNvSpPr/>
          <p:nvPr/>
        </p:nvSpPr>
        <p:spPr>
          <a:xfrm>
            <a:off x="-3" y="6354762"/>
            <a:ext cx="12192005" cy="503241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953735"/>
                </a:solidFill>
              </a:defRPr>
            </a:pPr>
            <a:endParaRPr/>
          </a:p>
        </p:txBody>
      </p:sp>
      <p:sp>
        <p:nvSpPr>
          <p:cNvPr id="114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36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dirty="0"/>
              <a:t>TECHNICAL APPROACH</a:t>
            </a:r>
          </a:p>
        </p:txBody>
      </p:sp>
      <p:sp>
        <p:nvSpPr>
          <p:cNvPr id="115" name="Slide Number Placeholder 5"/>
          <p:cNvSpPr txBox="1">
            <a:spLocks noGrp="1"/>
          </p:cNvSpPr>
          <p:nvPr>
            <p:ph type="sldNum" sz="quarter" idx="4294967295"/>
          </p:nvPr>
        </p:nvSpPr>
        <p:spPr>
          <a:xfrm>
            <a:off x="11393500" y="6404295"/>
            <a:ext cx="188895" cy="269237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/>
              <a:t>3</a:t>
            </a:fld>
            <a:endParaRPr/>
          </a:p>
        </p:txBody>
      </p:sp>
      <p:grpSp>
        <p:nvGrpSpPr>
          <p:cNvPr id="119" name="Oval 10"/>
          <p:cNvGrpSpPr/>
          <p:nvPr/>
        </p:nvGrpSpPr>
        <p:grpSpPr>
          <a:xfrm>
            <a:off x="329770" y="184893"/>
            <a:ext cx="1460742" cy="942044"/>
            <a:chOff x="-1" y="0"/>
            <a:chExt cx="1460740" cy="942043"/>
          </a:xfrm>
        </p:grpSpPr>
        <p:sp>
          <p:nvSpPr>
            <p:cNvPr id="117" name="Oval"/>
            <p:cNvSpPr/>
            <p:nvPr/>
          </p:nvSpPr>
          <p:spPr>
            <a:xfrm>
              <a:off x="-1" y="0"/>
              <a:ext cx="1460740" cy="942043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4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18" name="Byte Breakers"/>
            <p:cNvSpPr txBox="1"/>
            <p:nvPr/>
          </p:nvSpPr>
          <p:spPr>
            <a:xfrm>
              <a:off x="282086" y="286355"/>
              <a:ext cx="948445" cy="36932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>
                  <a:solidFill>
                    <a:srgbClr val="1D189C"/>
                  </a:solidFill>
                </a:defRPr>
              </a:lvl1pPr>
            </a:lstStyle>
            <a:p>
              <a:r>
                <a:rPr lang="en-US" dirty="0" err="1"/>
                <a:t>Lunox</a:t>
              </a:r>
              <a:endParaRPr dirty="0"/>
            </a:p>
          </p:txBody>
        </p:sp>
      </p:grpSp>
      <p:sp>
        <p:nvSpPr>
          <p:cNvPr id="120" name="Technologies used…"/>
          <p:cNvSpPr txBox="1"/>
          <p:nvPr/>
        </p:nvSpPr>
        <p:spPr>
          <a:xfrm>
            <a:off x="514651" y="1410635"/>
            <a:ext cx="5658533" cy="45858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just">
              <a:defRPr sz="2800">
                <a:solidFill>
                  <a:srgbClr val="641D49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     </a:t>
            </a:r>
            <a:r>
              <a:rPr b="1" u="sng" dirty="0"/>
              <a:t>Technologies</a:t>
            </a:r>
            <a:r>
              <a:rPr b="1" dirty="0"/>
              <a:t> </a:t>
            </a:r>
            <a:r>
              <a:rPr b="1" u="sng" dirty="0"/>
              <a:t>used</a:t>
            </a:r>
            <a:endParaRPr b="1" i="1" u="sng" dirty="0"/>
          </a:p>
          <a:p>
            <a:r>
              <a:rPr lang="en-IN" sz="2400" b="1" dirty="0">
                <a:sym typeface="Wingdings" panose="05000000000000000000" pitchFamily="2" charset="2"/>
              </a:rPr>
              <a:t></a:t>
            </a:r>
            <a:r>
              <a:rPr lang="en-IN" sz="2400" b="1" dirty="0"/>
              <a:t>Programming Languages:</a:t>
            </a:r>
            <a:r>
              <a:rPr lang="en-IN" sz="2400" dirty="0"/>
              <a:t> </a:t>
            </a:r>
          </a:p>
          <a:p>
            <a:r>
              <a:rPr lang="en-IN" sz="2400" dirty="0"/>
              <a:t>Python (for preprocessing, ML/DL, Word Cloud).</a:t>
            </a:r>
          </a:p>
          <a:p>
            <a:r>
              <a:rPr lang="en-IN" sz="2400" b="1" dirty="0">
                <a:sym typeface="Wingdings" panose="05000000000000000000" pitchFamily="2" charset="2"/>
              </a:rPr>
              <a:t></a:t>
            </a:r>
            <a:r>
              <a:rPr lang="en-IN" sz="2400" b="1" dirty="0"/>
              <a:t>Frameworks &amp; Libraries:</a:t>
            </a:r>
            <a:endParaRPr lang="en-IN" sz="2400" dirty="0"/>
          </a:p>
          <a:p>
            <a:pPr lvl="1"/>
            <a:r>
              <a:rPr lang="en-IN" sz="2400" dirty="0"/>
              <a:t>Transformers (LegalBERT, T5)</a:t>
            </a:r>
          </a:p>
          <a:p>
            <a:pPr lvl="1"/>
            <a:r>
              <a:rPr lang="en-IN" sz="2400" dirty="0"/>
              <a:t>PyTorch / TensorFlow (model training)</a:t>
            </a:r>
          </a:p>
          <a:p>
            <a:pPr lvl="1"/>
            <a:r>
              <a:rPr lang="en-IN" sz="2400" dirty="0"/>
              <a:t>Scikit-learn (ML baselines)</a:t>
            </a:r>
          </a:p>
          <a:p>
            <a:pPr lvl="1"/>
            <a:r>
              <a:rPr lang="en-IN" sz="2400" dirty="0"/>
              <a:t>WordCloud (keyword visualization)</a:t>
            </a:r>
          </a:p>
          <a:p>
            <a:r>
              <a:rPr lang="en-IN" sz="2400" b="1" dirty="0">
                <a:sym typeface="Wingdings" panose="05000000000000000000" pitchFamily="2" charset="2"/>
              </a:rPr>
              <a:t></a:t>
            </a:r>
            <a:r>
              <a:rPr lang="en-IN" sz="2400" b="1" dirty="0"/>
              <a:t>APIs &amp; Tools:</a:t>
            </a:r>
            <a:endParaRPr lang="en-IN" sz="2400" dirty="0"/>
          </a:p>
          <a:p>
            <a:pPr lvl="1"/>
            <a:r>
              <a:rPr lang="en-IN" sz="2400" dirty="0"/>
              <a:t>LegalParam API (sentiment analysis)</a:t>
            </a:r>
          </a:p>
          <a:p>
            <a:pPr lvl="1"/>
            <a:r>
              <a:rPr lang="en-IN" sz="2400" dirty="0"/>
              <a:t>Gemini API (summarization)</a:t>
            </a:r>
          </a:p>
        </p:txBody>
      </p:sp>
      <p:sp>
        <p:nvSpPr>
          <p:cNvPr id="121" name="Methodologies"/>
          <p:cNvSpPr txBox="1"/>
          <p:nvPr/>
        </p:nvSpPr>
        <p:spPr>
          <a:xfrm>
            <a:off x="7119949" y="1350469"/>
            <a:ext cx="4016281" cy="4447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2800" b="1">
                <a:solidFill>
                  <a:srgbClr val="7D224B"/>
                </a:solidFill>
              </a:defRPr>
            </a:pPr>
            <a:r>
              <a:t>             </a:t>
            </a:r>
            <a:r>
              <a:rPr u="sng"/>
              <a:t>WorkFlow</a:t>
            </a:r>
          </a:p>
        </p:txBody>
      </p:sp>
      <p:pic>
        <p:nvPicPr>
          <p:cNvPr id="122" name="WhatsApp Image 2024-09-08 at 8.17.51 PM.jpeg" descr="WhatsApp Image 2024-09-08 at 8.17.51 P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5673" y="1915247"/>
            <a:ext cx="4144837" cy="4144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3D5DEC-7177-39A0-EB7F-E703BD5373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720" y="52641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Footer Placeholder 6"/>
          <p:cNvSpPr txBox="1"/>
          <p:nvPr/>
        </p:nvSpPr>
        <p:spPr>
          <a:xfrm>
            <a:off x="4693920" y="6404295"/>
            <a:ext cx="3112563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200">
                <a:solidFill>
                  <a:srgbClr val="FFFFFF"/>
                </a:solidFill>
                <a:latin typeface="TradeGothic"/>
                <a:ea typeface="TradeGothic"/>
                <a:cs typeface="TradeGothic"/>
                <a:sym typeface="TradeGothic"/>
              </a:defRPr>
            </a:lvl1pPr>
          </a:lstStyle>
          <a:p>
            <a:r>
              <a:t>@SIH Idea submission- Template</a:t>
            </a:r>
          </a:p>
        </p:txBody>
      </p:sp>
      <p:sp>
        <p:nvSpPr>
          <p:cNvPr id="125" name="Rectangle 9"/>
          <p:cNvSpPr/>
          <p:nvPr/>
        </p:nvSpPr>
        <p:spPr>
          <a:xfrm>
            <a:off x="-3" y="6354762"/>
            <a:ext cx="12192005" cy="503241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953735"/>
                </a:solidFill>
              </a:defRPr>
            </a:pPr>
            <a:endParaRPr/>
          </a:p>
        </p:txBody>
      </p:sp>
      <p:sp>
        <p:nvSpPr>
          <p:cNvPr id="126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36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FEASIBILITY AND VIABILITY</a:t>
            </a:r>
          </a:p>
        </p:txBody>
      </p:sp>
      <p:sp>
        <p:nvSpPr>
          <p:cNvPr id="127" name="Slide Number Placeholder 5"/>
          <p:cNvSpPr txBox="1">
            <a:spLocks noGrp="1"/>
          </p:cNvSpPr>
          <p:nvPr>
            <p:ph type="sldNum" sz="quarter" idx="4294967295"/>
          </p:nvPr>
        </p:nvSpPr>
        <p:spPr>
          <a:xfrm>
            <a:off x="11393500" y="6404295"/>
            <a:ext cx="188895" cy="269237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/>
              <a:t>4</a:t>
            </a:fld>
            <a:endParaRPr/>
          </a:p>
        </p:txBody>
      </p:sp>
      <p:grpSp>
        <p:nvGrpSpPr>
          <p:cNvPr id="131" name="Oval 11"/>
          <p:cNvGrpSpPr/>
          <p:nvPr/>
        </p:nvGrpSpPr>
        <p:grpSpPr>
          <a:xfrm>
            <a:off x="329771" y="133460"/>
            <a:ext cx="1559903" cy="1005996"/>
            <a:chOff x="0" y="0"/>
            <a:chExt cx="1559902" cy="1005995"/>
          </a:xfrm>
        </p:grpSpPr>
        <p:sp>
          <p:nvSpPr>
            <p:cNvPr id="129" name="Oval"/>
            <p:cNvSpPr/>
            <p:nvPr/>
          </p:nvSpPr>
          <p:spPr>
            <a:xfrm>
              <a:off x="0" y="0"/>
              <a:ext cx="1559902" cy="1005995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4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30" name="Byte Breakers"/>
            <p:cNvSpPr txBox="1"/>
            <p:nvPr/>
          </p:nvSpPr>
          <p:spPr>
            <a:xfrm>
              <a:off x="301236" y="318331"/>
              <a:ext cx="957427" cy="36932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>
                  <a:solidFill>
                    <a:srgbClr val="2A189B"/>
                  </a:solidFill>
                </a:defRPr>
              </a:lvl1pPr>
            </a:lstStyle>
            <a:p>
              <a:r>
                <a:rPr lang="en-US" dirty="0" err="1"/>
                <a:t>Lunox</a:t>
              </a:r>
              <a:endParaRPr dirty="0"/>
            </a:p>
          </p:txBody>
        </p:sp>
      </p:grpSp>
      <p:sp>
        <p:nvSpPr>
          <p:cNvPr id="132" name="Analysis of feasibility of idea:…"/>
          <p:cNvSpPr txBox="1"/>
          <p:nvPr/>
        </p:nvSpPr>
        <p:spPr>
          <a:xfrm>
            <a:off x="1328053" y="1113737"/>
            <a:ext cx="10488922" cy="19697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53999" indent="-228599">
              <a:buSzPct val="60000"/>
              <a:buBlip>
                <a:blip r:embed="rId2"/>
              </a:buBlip>
              <a:defRPr sz="2200" b="1">
                <a:latin typeface="Clarendon BT Roman"/>
                <a:ea typeface="Clarendon BT Roman"/>
                <a:cs typeface="Clarendon BT Roman"/>
                <a:sym typeface="Clarendon BT Roman"/>
              </a:defRPr>
            </a:pPr>
            <a:r>
              <a:rPr lang="en-US" sz="2200" b="1" dirty="0">
                <a:sym typeface="Clarendon BT Roman"/>
              </a:rPr>
              <a:t>Analysis of Feasibility of Idea:</a:t>
            </a:r>
            <a:endParaRPr sz="2200" b="1" dirty="0">
              <a:latin typeface="Clarendon BT Roman"/>
              <a:ea typeface="Clarendon BT Roman"/>
              <a:cs typeface="Clarendon BT Roman"/>
              <a:sym typeface="Clarendon BT Roman"/>
            </a:endParaRPr>
          </a:p>
          <a:p>
            <a:pPr marL="150394" indent="-150394">
              <a:buSzPct val="60000"/>
              <a:buBlip>
                <a:blip r:embed="rId3"/>
              </a:buBlip>
              <a:defRPr sz="1600"/>
            </a:pPr>
            <a:r>
              <a:rPr lang="en-US" dirty="0"/>
              <a:t>The demand for </a:t>
            </a:r>
            <a:r>
              <a:rPr lang="en-US" b="1" dirty="0"/>
              <a:t>automated text analysis</a:t>
            </a:r>
            <a:r>
              <a:rPr lang="en-US" dirty="0"/>
              <a:t> is rapidly growing in government and policy-making sectors, making the project highly practical. E-Consultation portals in India receive thousands of comments, and applying </a:t>
            </a:r>
            <a:r>
              <a:rPr lang="en-US" b="1" dirty="0"/>
              <a:t>AI-driven sentiment and summarization tools</a:t>
            </a:r>
            <a:r>
              <a:rPr lang="en-US" dirty="0"/>
              <a:t> makes analysis efficient and impactful.</a:t>
            </a:r>
          </a:p>
          <a:p>
            <a:pPr marL="150394" indent="-150394">
              <a:buSzPct val="60000"/>
              <a:buBlip>
                <a:blip r:embed="rId3"/>
              </a:buBlip>
              <a:defRPr sz="1600"/>
            </a:pPr>
            <a:r>
              <a:rPr lang="en-US" dirty="0"/>
              <a:t>The integration of </a:t>
            </a:r>
            <a:r>
              <a:rPr lang="en-US" b="1" dirty="0"/>
              <a:t>transformer models (LegalBERT, T5)</a:t>
            </a:r>
            <a:r>
              <a:rPr lang="en-US" dirty="0"/>
              <a:t> with </a:t>
            </a:r>
            <a:r>
              <a:rPr lang="en-US" b="1" dirty="0"/>
              <a:t>APIs (LegalParam, Gemini)</a:t>
            </a:r>
            <a:r>
              <a:rPr lang="en-US" dirty="0"/>
              <a:t> ensures both accuracy and scalability. The system can be deployed at scale with minimal manual intervention while delivering high-quality insights.</a:t>
            </a:r>
          </a:p>
          <a:p>
            <a:pPr>
              <a:buSzPct val="60000"/>
              <a:defRPr sz="1600"/>
            </a:pPr>
            <a:r>
              <a:rPr lang="en-US" sz="2000" b="1" dirty="0"/>
              <a:t>Future Scope:- </a:t>
            </a:r>
            <a:r>
              <a:rPr lang="en-US" sz="1600" b="1" dirty="0"/>
              <a:t> </a:t>
            </a:r>
            <a:r>
              <a:rPr lang="en-US" sz="1600" dirty="0"/>
              <a:t>Text to voice as well as language translation of summaries of each comment will also be added later on.</a:t>
            </a:r>
            <a:endParaRPr lang="en-US" sz="2000" b="1" dirty="0"/>
          </a:p>
        </p:txBody>
      </p:sp>
      <p:sp>
        <p:nvSpPr>
          <p:cNvPr id="133" name="Challenges:…"/>
          <p:cNvSpPr txBox="1"/>
          <p:nvPr/>
        </p:nvSpPr>
        <p:spPr>
          <a:xfrm>
            <a:off x="1423193" y="3071695"/>
            <a:ext cx="4359690" cy="33239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/>
          <a:p>
            <a:pPr marL="279400" indent="-254000">
              <a:buSzPct val="60000"/>
              <a:buBlip>
                <a:blip r:embed="rId2"/>
              </a:buBlip>
              <a:defRPr sz="2200" b="1">
                <a:latin typeface="Clarendon BT Roman"/>
                <a:ea typeface="Clarendon BT Roman"/>
                <a:cs typeface="Clarendon BT Roman"/>
                <a:sym typeface="Clarendon BT Roman"/>
              </a:defRPr>
            </a:pPr>
            <a:r>
              <a:rPr lang="en-IN"/>
              <a:t>Challenges:</a:t>
            </a:r>
            <a:endParaRPr lang="en-US" sz="3200" b="1" dirty="0">
              <a:latin typeface="Clarendon BT Roman"/>
              <a:ea typeface="Clarendon BT Roman"/>
              <a:cs typeface="Clarendon BT Roman"/>
              <a:sym typeface="Clarendon BT Roman"/>
            </a:endParaRPr>
          </a:p>
          <a:p>
            <a:pPr marL="180472" indent="-180472">
              <a:buSzPct val="60000"/>
              <a:buBlip>
                <a:blip r:embed="rId3"/>
              </a:buBlip>
            </a:pPr>
            <a:r>
              <a:rPr lang="en-US" dirty="0"/>
              <a:t>Handling large volume of comments in real time</a:t>
            </a:r>
          </a:p>
          <a:p>
            <a:pPr marL="180472" indent="-180472">
              <a:buSzPct val="60000"/>
              <a:buBlip>
                <a:blip r:embed="rId3"/>
              </a:buBlip>
            </a:pPr>
            <a:r>
              <a:rPr lang="en-US" dirty="0"/>
              <a:t>Ensuring high accuracy of sentiment classification across diverse opinions</a:t>
            </a:r>
          </a:p>
          <a:p>
            <a:pPr marL="180472" indent="-180472">
              <a:buSzPct val="60000"/>
              <a:buBlip>
                <a:blip r:embed="rId3"/>
              </a:buBlip>
            </a:pPr>
            <a:r>
              <a:rPr lang="en-US" dirty="0"/>
              <a:t>Avoiding low-quality summaries due to long and complex sentences</a:t>
            </a:r>
          </a:p>
          <a:p>
            <a:pPr marL="180472" indent="-180472">
              <a:buSzPct val="60000"/>
              <a:buBlip>
                <a:blip r:embed="rId3"/>
              </a:buBlip>
            </a:pPr>
            <a:r>
              <a:rPr lang="en-US" dirty="0"/>
              <a:t>Managing API limitations such as request rate, cost or downtime</a:t>
            </a:r>
          </a:p>
          <a:p>
            <a:endParaRPr lang="en-IN" sz="2200" b="1" dirty="0">
              <a:latin typeface="Clarendon BT Roman"/>
              <a:ea typeface="Clarendon BT Roman"/>
              <a:cs typeface="Clarendon BT Roman"/>
              <a:sym typeface="Clarendon BT Roman"/>
            </a:endParaRPr>
          </a:p>
          <a:p>
            <a:endParaRPr lang="en-IN" sz="2200" b="1" dirty="0">
              <a:latin typeface="Clarendon BT Roman"/>
              <a:ea typeface="Clarendon BT Roman"/>
              <a:cs typeface="Clarendon BT Roman"/>
              <a:sym typeface="Clarendon BT Roman"/>
            </a:endParaRPr>
          </a:p>
        </p:txBody>
      </p:sp>
      <p:sp>
        <p:nvSpPr>
          <p:cNvPr id="134" name="Strategies:…"/>
          <p:cNvSpPr txBox="1"/>
          <p:nvPr/>
        </p:nvSpPr>
        <p:spPr>
          <a:xfrm>
            <a:off x="5782883" y="3085308"/>
            <a:ext cx="6285727" cy="34163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79400" indent="-254000">
              <a:buSzPct val="60000"/>
              <a:buBlip>
                <a:blip r:embed="rId2"/>
              </a:buBlip>
              <a:defRPr sz="2200" b="1">
                <a:latin typeface="Clarendon BT Roman"/>
                <a:ea typeface="Clarendon BT Roman"/>
                <a:cs typeface="Clarendon BT Roman"/>
                <a:sym typeface="Clarendon BT Roman"/>
              </a:defRPr>
            </a:pPr>
            <a:r>
              <a:rPr dirty="0"/>
              <a:t>Strategies:</a:t>
            </a:r>
          </a:p>
          <a:p>
            <a:pPr>
              <a:defRPr sz="1700"/>
            </a:pPr>
            <a:endParaRPr dirty="0"/>
          </a:p>
          <a:p>
            <a:pPr marL="170446" indent="-170446">
              <a:buSzPct val="60000"/>
              <a:buBlip>
                <a:blip r:embed="rId3"/>
              </a:buBlip>
              <a:defRPr sz="1600"/>
            </a:pPr>
            <a:r>
              <a:rPr lang="en-US" b="1" dirty="0"/>
              <a:t>Hybrid Approach:- </a:t>
            </a:r>
            <a:r>
              <a:rPr lang="en-US" dirty="0"/>
              <a:t>Using ML/DL models for training accuracy+ APIs for real time speed(Dual methodology)</a:t>
            </a:r>
          </a:p>
          <a:p>
            <a:pPr marL="170446" indent="-170446">
              <a:buSzPct val="60000"/>
              <a:buBlip>
                <a:blip r:embed="rId3"/>
              </a:buBlip>
              <a:defRPr sz="1600"/>
            </a:pPr>
            <a:r>
              <a:rPr lang="en-US" b="1" dirty="0"/>
              <a:t>Performance Evaluation:- </a:t>
            </a:r>
            <a:r>
              <a:rPr lang="en-US" dirty="0"/>
              <a:t>Measure summarization using ROGUE scores for quality</a:t>
            </a:r>
          </a:p>
          <a:p>
            <a:pPr marL="170446" indent="-170446">
              <a:buSzPct val="60000"/>
              <a:buBlip>
                <a:blip r:embed="rId3"/>
              </a:buBlip>
              <a:defRPr sz="1600"/>
            </a:pPr>
            <a:r>
              <a:rPr lang="en-US" b="1" dirty="0"/>
              <a:t>Scalability Solution</a:t>
            </a:r>
            <a:r>
              <a:rPr lang="en-US" dirty="0"/>
              <a:t>:- Optimize preprocessing and API calls for bult comment handling</a:t>
            </a:r>
          </a:p>
          <a:p>
            <a:pPr marL="170446" indent="-170446">
              <a:buSzPct val="60000"/>
              <a:buBlip>
                <a:blip r:embed="rId3"/>
              </a:buBlip>
              <a:defRPr sz="1600"/>
            </a:pPr>
            <a:r>
              <a:rPr lang="en-US" b="1" dirty="0"/>
              <a:t>Visualization Tools:- </a:t>
            </a:r>
            <a:r>
              <a:rPr lang="en-US" dirty="0"/>
              <a:t>Provide Word Clouds and sentiment dashboards for clarity</a:t>
            </a:r>
          </a:p>
          <a:p>
            <a:pPr marL="170446" indent="-170446">
              <a:buSzPct val="60000"/>
              <a:buBlip>
                <a:blip r:embed="rId3"/>
              </a:buBlip>
              <a:defRPr sz="1600"/>
            </a:pPr>
            <a:r>
              <a:rPr lang="en-US" b="1" dirty="0"/>
              <a:t>Fallback Mechanisms:- </a:t>
            </a:r>
            <a:r>
              <a:rPr lang="en-US" dirty="0"/>
              <a:t>Switch between models and APIs if one fails or underperforms</a:t>
            </a:r>
            <a:endParaRPr dirty="0"/>
          </a:p>
          <a:p>
            <a:pPr>
              <a:defRPr sz="1700"/>
            </a:pPr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57AACDC-5E5F-DCAC-D369-AD6B7024F1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720" y="52641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Footer Placeholder 6"/>
          <p:cNvSpPr txBox="1"/>
          <p:nvPr/>
        </p:nvSpPr>
        <p:spPr>
          <a:xfrm>
            <a:off x="4693920" y="6404295"/>
            <a:ext cx="3112563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200">
                <a:solidFill>
                  <a:srgbClr val="FFFFFF"/>
                </a:solidFill>
                <a:latin typeface="TradeGothic"/>
                <a:ea typeface="TradeGothic"/>
                <a:cs typeface="TradeGothic"/>
                <a:sym typeface="TradeGothic"/>
              </a:defRPr>
            </a:lvl1pPr>
          </a:lstStyle>
          <a:p>
            <a:r>
              <a:t>@SIH Idea submission- Template</a:t>
            </a:r>
          </a:p>
        </p:txBody>
      </p:sp>
      <p:sp>
        <p:nvSpPr>
          <p:cNvPr id="137" name="Rectangle 9"/>
          <p:cNvSpPr/>
          <p:nvPr/>
        </p:nvSpPr>
        <p:spPr>
          <a:xfrm>
            <a:off x="-3" y="6354762"/>
            <a:ext cx="12192005" cy="503241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953735"/>
                </a:solidFill>
              </a:defRPr>
            </a:pPr>
            <a:endParaRPr/>
          </a:p>
        </p:txBody>
      </p:sp>
      <p:sp>
        <p:nvSpPr>
          <p:cNvPr id="138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36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dirty="0"/>
              <a:t>IMPACT AND BENEFITS</a:t>
            </a:r>
          </a:p>
        </p:txBody>
      </p:sp>
      <p:sp>
        <p:nvSpPr>
          <p:cNvPr id="139" name="Slide Number Placeholder 5"/>
          <p:cNvSpPr txBox="1">
            <a:spLocks noGrp="1"/>
          </p:cNvSpPr>
          <p:nvPr>
            <p:ph type="sldNum" sz="quarter" idx="4294967295"/>
          </p:nvPr>
        </p:nvSpPr>
        <p:spPr>
          <a:xfrm>
            <a:off x="11393500" y="6404295"/>
            <a:ext cx="188895" cy="269237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/>
              <a:t>5</a:t>
            </a:fld>
            <a:endParaRPr/>
          </a:p>
        </p:txBody>
      </p:sp>
      <p:grpSp>
        <p:nvGrpSpPr>
          <p:cNvPr id="143" name="Oval 11"/>
          <p:cNvGrpSpPr/>
          <p:nvPr/>
        </p:nvGrpSpPr>
        <p:grpSpPr>
          <a:xfrm>
            <a:off x="329771" y="168653"/>
            <a:ext cx="1511095" cy="974520"/>
            <a:chOff x="0" y="-1"/>
            <a:chExt cx="1511094" cy="974519"/>
          </a:xfrm>
        </p:grpSpPr>
        <p:sp>
          <p:nvSpPr>
            <p:cNvPr id="141" name="Oval"/>
            <p:cNvSpPr/>
            <p:nvPr/>
          </p:nvSpPr>
          <p:spPr>
            <a:xfrm>
              <a:off x="0" y="-1"/>
              <a:ext cx="1511094" cy="974519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4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42" name="Byte Breakers"/>
            <p:cNvSpPr txBox="1"/>
            <p:nvPr/>
          </p:nvSpPr>
          <p:spPr>
            <a:xfrm>
              <a:off x="291810" y="302593"/>
              <a:ext cx="927471" cy="36932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>
                  <a:solidFill>
                    <a:srgbClr val="281899"/>
                  </a:solidFill>
                </a:defRPr>
              </a:lvl1pPr>
            </a:lstStyle>
            <a:p>
              <a:r>
                <a:rPr lang="en-US" dirty="0" err="1"/>
                <a:t>Lunox</a:t>
              </a:r>
              <a:endParaRPr dirty="0"/>
            </a:p>
          </p:txBody>
        </p:sp>
      </p:grpSp>
      <p:sp>
        <p:nvSpPr>
          <p:cNvPr id="144" name="IMPACT:…"/>
          <p:cNvSpPr txBox="1"/>
          <p:nvPr/>
        </p:nvSpPr>
        <p:spPr>
          <a:xfrm>
            <a:off x="714822" y="1556287"/>
            <a:ext cx="5252544" cy="48166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r>
              <a:rPr dirty="0"/>
              <a:t>                                 </a:t>
            </a:r>
            <a:r>
              <a:rPr sz="24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sz="26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sz="2600" b="1" dirty="0">
                <a:solidFill>
                  <a:srgbClr val="511828"/>
                </a:solidFill>
                <a:latin typeface="Courier New"/>
                <a:ea typeface="Courier New"/>
                <a:cs typeface="Courier New"/>
                <a:sym typeface="Courier New"/>
              </a:rPr>
              <a:t>IMPACT:</a:t>
            </a:r>
          </a:p>
          <a:p>
            <a:endParaRPr sz="2600" b="1" dirty="0">
              <a:solidFill>
                <a:srgbClr val="51182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266700" indent="-228600">
              <a:buSzPct val="60000"/>
              <a:buBlip>
                <a:blip r:embed="rId2"/>
              </a:buBlip>
              <a:defRPr sz="1700">
                <a:latin typeface="Chalkboard"/>
                <a:ea typeface="Chalkboard"/>
                <a:cs typeface="Chalkboard"/>
                <a:sym typeface="Chalkboard"/>
              </a:defRPr>
            </a:pPr>
            <a:r>
              <a:rPr lang="en-US" sz="1700" dirty="0">
                <a:latin typeface="Chalkboard"/>
                <a:ea typeface="Chalkboard"/>
                <a:cs typeface="Chalkboard"/>
                <a:sym typeface="Chalkboard"/>
              </a:rPr>
              <a:t>Expands access to valuable insights from large volumes of public feedback aiding for faster policy making.</a:t>
            </a:r>
          </a:p>
          <a:p>
            <a:pPr marL="266700" indent="-228600">
              <a:buSzPct val="60000"/>
              <a:buBlip>
                <a:blip r:embed="rId2"/>
              </a:buBlip>
              <a:defRPr sz="1700">
                <a:latin typeface="Chalkboard"/>
                <a:ea typeface="Chalkboard"/>
                <a:cs typeface="Chalkboard"/>
                <a:sym typeface="Chalkboard"/>
              </a:defRPr>
            </a:pPr>
            <a:r>
              <a:rPr lang="en-US" sz="1700" dirty="0">
                <a:latin typeface="Chalkboard"/>
                <a:ea typeface="Chalkboard"/>
                <a:cs typeface="Chalkboard"/>
                <a:sym typeface="Chalkboard"/>
              </a:rPr>
              <a:t>Improves decision-making efficiency and summarization of citizen comments.</a:t>
            </a:r>
          </a:p>
          <a:p>
            <a:pPr marL="266700" indent="-228600">
              <a:buSzPct val="60000"/>
              <a:buBlip>
                <a:blip r:embed="rId2"/>
              </a:buBlip>
              <a:defRPr sz="1700">
                <a:latin typeface="Chalkboard"/>
                <a:ea typeface="Chalkboard"/>
                <a:cs typeface="Chalkboard"/>
                <a:sym typeface="Chalkboard"/>
              </a:defRPr>
            </a:pPr>
            <a:r>
              <a:rPr lang="en-US" sz="1700" dirty="0">
                <a:latin typeface="Chalkboard"/>
                <a:ea typeface="Chalkboard"/>
                <a:cs typeface="Chalkboard"/>
                <a:sym typeface="Chalkboard"/>
              </a:rPr>
              <a:t>Encourages Transparency and citizen engagement by providing clear sentiments and summary info on comments.</a:t>
            </a:r>
          </a:p>
          <a:p>
            <a:pPr marL="266700" indent="-228600">
              <a:buSzPct val="60000"/>
              <a:buBlip>
                <a:blip r:embed="rId2"/>
              </a:buBlip>
              <a:defRPr sz="1700">
                <a:latin typeface="Chalkboard"/>
                <a:ea typeface="Chalkboard"/>
                <a:cs typeface="Chalkboard"/>
                <a:sym typeface="Chalkboard"/>
              </a:defRPr>
            </a:pPr>
            <a:r>
              <a:rPr lang="en-US" sz="1700" dirty="0">
                <a:latin typeface="Chalkboard"/>
                <a:ea typeface="Chalkboard"/>
                <a:cs typeface="Chalkboard"/>
                <a:sym typeface="Chalkboard"/>
              </a:rPr>
              <a:t>Supports scalable operations allowing analysis of thousands of comments.</a:t>
            </a:r>
          </a:p>
          <a:p>
            <a:pPr marL="266700" indent="-228600">
              <a:buSzPct val="60000"/>
              <a:buBlip>
                <a:blip r:embed="rId2"/>
              </a:buBlip>
              <a:defRPr sz="1700">
                <a:latin typeface="Chalkboard"/>
                <a:ea typeface="Chalkboard"/>
                <a:cs typeface="Chalkboard"/>
                <a:sym typeface="Chalkboard"/>
              </a:defRPr>
            </a:pPr>
            <a:endParaRPr sz="1700" dirty="0">
              <a:latin typeface="Chalkboard"/>
              <a:ea typeface="Chalkboard"/>
              <a:cs typeface="Chalkboard"/>
              <a:sym typeface="Chalkboard"/>
            </a:endParaRPr>
          </a:p>
          <a:p>
            <a:endParaRPr sz="1700" dirty="0">
              <a:latin typeface="Chalkboard"/>
              <a:ea typeface="Chalkboard"/>
              <a:cs typeface="Chalkboard"/>
              <a:sym typeface="Chalkboard"/>
            </a:endParaRPr>
          </a:p>
          <a:p>
            <a:endParaRPr sz="1700" dirty="0">
              <a:latin typeface="Chalkboard"/>
              <a:ea typeface="Chalkboard"/>
              <a:cs typeface="Chalkboard"/>
              <a:sym typeface="Chalkboard"/>
            </a:endParaRPr>
          </a:p>
          <a:p>
            <a:endParaRPr sz="1700" dirty="0">
              <a:latin typeface="Chalkboard"/>
              <a:ea typeface="Chalkboard"/>
              <a:cs typeface="Chalkboard"/>
              <a:sym typeface="Chalkboard"/>
            </a:endParaRPr>
          </a:p>
          <a:p>
            <a:endParaRPr sz="1700" dirty="0">
              <a:latin typeface="Chalkboard"/>
              <a:ea typeface="Chalkboard"/>
              <a:cs typeface="Chalkboard"/>
              <a:sym typeface="Chalkboard"/>
            </a:endParaRPr>
          </a:p>
          <a:p>
            <a:endParaRPr sz="1700" dirty="0">
              <a:latin typeface="Chalkboard"/>
              <a:ea typeface="Chalkboard"/>
              <a:cs typeface="Chalkboard"/>
              <a:sym typeface="Chalkboard"/>
            </a:endParaRPr>
          </a:p>
        </p:txBody>
      </p:sp>
      <p:sp>
        <p:nvSpPr>
          <p:cNvPr id="145" name="BENEFITS:…"/>
          <p:cNvSpPr txBox="1"/>
          <p:nvPr/>
        </p:nvSpPr>
        <p:spPr>
          <a:xfrm>
            <a:off x="6637117" y="1556286"/>
            <a:ext cx="5565182" cy="507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r>
              <a:rPr dirty="0"/>
              <a:t>       </a:t>
            </a:r>
            <a:r>
              <a:rPr sz="2700" b="1" dirty="0"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sz="2600" b="1" dirty="0">
                <a:solidFill>
                  <a:srgbClr val="5C1B30"/>
                </a:solidFill>
                <a:latin typeface="Courier New"/>
                <a:ea typeface="Courier New"/>
                <a:cs typeface="Courier New"/>
                <a:sym typeface="Courier New"/>
              </a:rPr>
              <a:t>BENEFITS</a:t>
            </a:r>
            <a:r>
              <a:rPr sz="2700" b="1" dirty="0">
                <a:solidFill>
                  <a:srgbClr val="5C1B3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</a:p>
          <a:p>
            <a:pPr marL="180472" indent="-180472">
              <a:buSzPct val="60000"/>
              <a:buBlip>
                <a:blip r:embed="rId3"/>
              </a:buBlip>
            </a:pPr>
            <a:endParaRPr sz="2700" b="1" dirty="0">
              <a:solidFill>
                <a:srgbClr val="5C1B3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241300" indent="-203200">
              <a:buSzPct val="60000"/>
              <a:buBlip>
                <a:blip r:embed="rId2"/>
              </a:buBlip>
            </a:pPr>
            <a:r>
              <a:rPr lang="en-US" dirty="0"/>
              <a:t>Connects policymakers with actionable insights derived from public opinion.</a:t>
            </a:r>
          </a:p>
          <a:p>
            <a:pPr marL="241300" indent="-203200">
              <a:buSzPct val="60000"/>
              <a:buBlip>
                <a:blip r:embed="rId2"/>
              </a:buBlip>
            </a:pPr>
            <a:r>
              <a:rPr lang="en-US" dirty="0"/>
              <a:t>Reduces time and effort spent on manual comment review and reporting.</a:t>
            </a:r>
          </a:p>
          <a:p>
            <a:pPr marL="241300" indent="-203200">
              <a:buSzPct val="60000"/>
              <a:buBlip>
                <a:blip r:embed="rId2"/>
              </a:buBlip>
            </a:pPr>
            <a:r>
              <a:rPr lang="en-US" dirty="0"/>
              <a:t>Ensuring higher accuracy of sentiment detection and summary quality and summary quality using hybrid ML/DL+API approaches</a:t>
            </a:r>
          </a:p>
          <a:p>
            <a:pPr marL="241300" indent="-203200">
              <a:buSzPct val="60000"/>
              <a:buBlip>
                <a:blip r:embed="rId2"/>
              </a:buBlip>
            </a:pPr>
            <a:r>
              <a:rPr lang="en-US" dirty="0"/>
              <a:t>Provides a robust framework that can be adapted for multiple e-consultation platforms</a:t>
            </a:r>
          </a:p>
          <a:p>
            <a:pPr marL="241300" indent="-203200">
              <a:buSzPct val="60000"/>
              <a:buBlip>
                <a:blip r:embed="rId2"/>
              </a:buBlip>
            </a:pPr>
            <a:r>
              <a:rPr lang="en-US" dirty="0"/>
              <a:t>Visualizations like Word Clouds make key trends easy to interpret at a glance.</a:t>
            </a:r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FD39CA-F999-E78D-A48C-7AF3B4181B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720" y="52641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Footer Placeholder 6"/>
          <p:cNvSpPr txBox="1"/>
          <p:nvPr/>
        </p:nvSpPr>
        <p:spPr>
          <a:xfrm>
            <a:off x="4693920" y="6404295"/>
            <a:ext cx="3112563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200">
                <a:solidFill>
                  <a:srgbClr val="FFFFFF"/>
                </a:solidFill>
                <a:latin typeface="TradeGothic"/>
                <a:ea typeface="TradeGothic"/>
                <a:cs typeface="TradeGothic"/>
                <a:sym typeface="TradeGothic"/>
              </a:defRPr>
            </a:lvl1pPr>
          </a:lstStyle>
          <a:p>
            <a:r>
              <a:t>@SIH Idea submission- Template</a:t>
            </a:r>
          </a:p>
        </p:txBody>
      </p:sp>
      <p:sp>
        <p:nvSpPr>
          <p:cNvPr id="148" name="Rectangle 9"/>
          <p:cNvSpPr/>
          <p:nvPr/>
        </p:nvSpPr>
        <p:spPr>
          <a:xfrm>
            <a:off x="-3" y="6354762"/>
            <a:ext cx="12192005" cy="503241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953735"/>
                </a:solidFill>
              </a:defRPr>
            </a:pPr>
            <a:endParaRPr/>
          </a:p>
        </p:txBody>
      </p:sp>
      <p:sp>
        <p:nvSpPr>
          <p:cNvPr id="149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36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RESEARCH  AND REFERENCES</a:t>
            </a:r>
          </a:p>
        </p:txBody>
      </p:sp>
      <p:sp>
        <p:nvSpPr>
          <p:cNvPr id="150" name="Slide Number Placeholder 5"/>
          <p:cNvSpPr txBox="1">
            <a:spLocks noGrp="1"/>
          </p:cNvSpPr>
          <p:nvPr>
            <p:ph type="sldNum" sz="quarter" idx="4294967295"/>
          </p:nvPr>
        </p:nvSpPr>
        <p:spPr>
          <a:xfrm>
            <a:off x="11393500" y="6404295"/>
            <a:ext cx="188895" cy="269237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/>
              <a:t>6</a:t>
            </a:fld>
            <a:endParaRPr/>
          </a:p>
        </p:txBody>
      </p:sp>
      <p:grpSp>
        <p:nvGrpSpPr>
          <p:cNvPr id="154" name="Oval 8"/>
          <p:cNvGrpSpPr/>
          <p:nvPr/>
        </p:nvGrpSpPr>
        <p:grpSpPr>
          <a:xfrm>
            <a:off x="329771" y="178267"/>
            <a:ext cx="1481287" cy="955296"/>
            <a:chOff x="0" y="0"/>
            <a:chExt cx="1481286" cy="955295"/>
          </a:xfrm>
        </p:grpSpPr>
        <p:sp>
          <p:nvSpPr>
            <p:cNvPr id="152" name="Oval"/>
            <p:cNvSpPr/>
            <p:nvPr/>
          </p:nvSpPr>
          <p:spPr>
            <a:xfrm>
              <a:off x="0" y="0"/>
              <a:ext cx="1481286" cy="955295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4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53" name="Byte Breakers"/>
            <p:cNvSpPr txBox="1"/>
            <p:nvPr/>
          </p:nvSpPr>
          <p:spPr>
            <a:xfrm>
              <a:off x="261965" y="292981"/>
              <a:ext cx="957355" cy="36932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>
                  <a:solidFill>
                    <a:srgbClr val="1A1799"/>
                  </a:solidFill>
                </a:defRPr>
              </a:lvl1pPr>
            </a:lstStyle>
            <a:p>
              <a:r>
                <a:rPr lang="en-US" dirty="0" err="1"/>
                <a:t>Lunox</a:t>
              </a:r>
              <a:endParaRPr dirty="0"/>
            </a:p>
          </p:txBody>
        </p:sp>
      </p:grpSp>
      <p:sp>
        <p:nvSpPr>
          <p:cNvPr id="155" name="REFERENCES:…"/>
          <p:cNvSpPr txBox="1"/>
          <p:nvPr/>
        </p:nvSpPr>
        <p:spPr>
          <a:xfrm>
            <a:off x="714825" y="1276562"/>
            <a:ext cx="11070750" cy="43242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2100" b="1">
                <a:latin typeface="Marker Felt"/>
                <a:ea typeface="Marker Felt"/>
                <a:cs typeface="Marker Felt"/>
                <a:sym typeface="Marker Felt"/>
              </a:defRPr>
            </a:pPr>
            <a:r>
              <a:rPr dirty="0"/>
              <a:t>REFERENCES:</a:t>
            </a:r>
          </a:p>
          <a:p>
            <a:pPr algn="just">
              <a:defRPr sz="1300">
                <a:latin typeface="Arial"/>
                <a:ea typeface="Arial"/>
                <a:cs typeface="Arial"/>
                <a:sym typeface="Arial"/>
              </a:defRPr>
            </a:pPr>
            <a:endParaRPr dirty="0"/>
          </a:p>
          <a:p>
            <a:pPr marL="228600" indent="-203200" algn="just">
              <a:buSzPct val="60000"/>
              <a:buBlip>
                <a:blip r:embed="rId2"/>
              </a:buBlip>
              <a:defRPr sz="1500">
                <a:latin typeface="Arial"/>
                <a:ea typeface="Arial"/>
                <a:cs typeface="Arial"/>
                <a:sym typeface="Arial"/>
              </a:defRPr>
            </a:pPr>
            <a:r>
              <a:rPr lang="en-US" sz="1500" dirty="0">
                <a:latin typeface="Arial"/>
                <a:cs typeface="Arial"/>
                <a:sym typeface="Arial"/>
              </a:rPr>
              <a:t>Analyzed research papers and articles on sentiment analysis  and summarization of citizen feedback from e-consultation portals.</a:t>
            </a:r>
          </a:p>
          <a:p>
            <a:pPr marL="228600" indent="-203200" algn="just">
              <a:buSzPct val="60000"/>
              <a:buBlip>
                <a:blip r:embed="rId2"/>
              </a:buBlip>
              <a:defRPr sz="1500">
                <a:latin typeface="Arial"/>
                <a:ea typeface="Arial"/>
                <a:cs typeface="Arial"/>
                <a:sym typeface="Arial"/>
              </a:defRPr>
            </a:pPr>
            <a:r>
              <a:rPr lang="en-US" dirty="0"/>
              <a:t>Studied transformers-based models like LegalBERT and t5 to understand their application in legal and policy text analysis.</a:t>
            </a:r>
          </a:p>
          <a:p>
            <a:pPr marL="228600" indent="-203200" algn="just">
              <a:buSzPct val="60000"/>
              <a:buBlip>
                <a:blip r:embed="rId2"/>
              </a:buBlip>
              <a:defRPr sz="1500">
                <a:latin typeface="Arial"/>
                <a:ea typeface="Arial"/>
                <a:cs typeface="Arial"/>
                <a:sym typeface="Arial"/>
              </a:defRPr>
            </a:pPr>
            <a:r>
              <a:rPr lang="en-US" dirty="0"/>
              <a:t>Explored API-based solutions such as LegalParam and Gemini for real-time processing and scalability</a:t>
            </a:r>
          </a:p>
          <a:p>
            <a:pPr marL="228600" indent="-203200" algn="just">
              <a:buSzPct val="60000"/>
              <a:buBlip>
                <a:blip r:embed="rId2"/>
              </a:buBlip>
              <a:defRPr sz="1500">
                <a:latin typeface="Arial"/>
                <a:ea typeface="Arial"/>
                <a:cs typeface="Arial"/>
                <a:sym typeface="Arial"/>
              </a:defRPr>
            </a:pPr>
            <a:r>
              <a:rPr lang="en-US" dirty="0"/>
              <a:t>Referred to tutorials and Documentation for python libraries including Transformers,PyTorch, TensorFlow and WordCloud for implementation </a:t>
            </a:r>
          </a:p>
          <a:p>
            <a:pPr marL="25400" algn="just">
              <a:buSzPct val="60000"/>
              <a:defRPr sz="1500">
                <a:latin typeface="Arial"/>
                <a:ea typeface="Arial"/>
                <a:cs typeface="Arial"/>
                <a:sym typeface="Arial"/>
              </a:defRPr>
            </a:pPr>
            <a:endParaRPr lang="en-US" dirty="0"/>
          </a:p>
          <a:p>
            <a:pPr marL="25400" algn="just">
              <a:buSzPct val="60000"/>
              <a:defRPr sz="1500">
                <a:latin typeface="Arial"/>
                <a:ea typeface="Arial"/>
                <a:cs typeface="Arial"/>
                <a:sym typeface="Arial"/>
              </a:defRPr>
            </a:pPr>
            <a:r>
              <a:rPr lang="en-US" sz="2000" b="1" dirty="0"/>
              <a:t>LINKS:</a:t>
            </a:r>
          </a:p>
          <a:p>
            <a:pPr marL="25400" algn="just">
              <a:buSzPct val="60000"/>
              <a:defRPr sz="1500">
                <a:latin typeface="Arial"/>
                <a:ea typeface="Arial"/>
                <a:cs typeface="Arial"/>
                <a:sym typeface="Arial"/>
              </a:defRPr>
            </a:pPr>
            <a:endParaRPr sz="2000" b="1" dirty="0"/>
          </a:p>
          <a:p>
            <a:pPr marL="279400" indent="-203200">
              <a:buSzPct val="60000"/>
              <a:buBlip>
                <a:blip r:embed="rId3"/>
              </a:buBlip>
              <a:defRPr sz="16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dirty="0"/>
              <a:t>Source 1: </a:t>
            </a:r>
            <a:r>
              <a:rPr lang="en-US" dirty="0">
                <a:hlinkClick r:id="rId4"/>
              </a:rPr>
              <a:t>https://www.mdpi.com/2076-3417/13/12/7111</a:t>
            </a:r>
            <a:r>
              <a:rPr lang="en-US" dirty="0"/>
              <a:t>.</a:t>
            </a:r>
          </a:p>
          <a:p>
            <a:pPr marL="279400" indent="-203200">
              <a:buSzPct val="60000"/>
              <a:buBlip>
                <a:blip r:embed="rId3"/>
              </a:buBlip>
              <a:defRPr sz="16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dirty="0"/>
              <a:t>Source 2: </a:t>
            </a:r>
            <a:r>
              <a:rPr lang="en-US" dirty="0">
                <a:hlinkClick r:id="rId5"/>
              </a:rPr>
              <a:t>https://www.sciencedirect.com/science/article/pii/S2949719124000189#sec3</a:t>
            </a:r>
            <a:r>
              <a:rPr lang="en-US" dirty="0"/>
              <a:t>.</a:t>
            </a:r>
          </a:p>
          <a:p>
            <a:pPr marL="279400" indent="-203200">
              <a:buSzPct val="60000"/>
              <a:buBlip>
                <a:blip r:embed="rId3"/>
              </a:buBlip>
              <a:defRPr sz="16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dirty="0"/>
              <a:t>Source 3:https://arxiv.org/abs/2010.02559</a:t>
            </a:r>
          </a:p>
          <a:p>
            <a:pPr marL="279400" indent="-203200">
              <a:buSzPct val="60000"/>
              <a:buBlip>
                <a:blip r:embed="rId3"/>
              </a:buBlip>
              <a:defRPr sz="16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dirty="0"/>
              <a:t>Source 4: </a:t>
            </a:r>
            <a:r>
              <a:rPr lang="en-US" dirty="0">
                <a:hlinkClick r:id="rId6"/>
              </a:rPr>
              <a:t>https://huggingface.co/bharatgenai/LegalParam</a:t>
            </a:r>
            <a:endParaRPr lang="en-US" dirty="0"/>
          </a:p>
          <a:p>
            <a:pPr marL="279400" indent="-203200">
              <a:buSzPct val="60000"/>
              <a:buBlip>
                <a:blip r:embed="rId3"/>
              </a:buBlip>
              <a:defRPr sz="16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dirty="0"/>
              <a:t>Source 5: </a:t>
            </a:r>
            <a:r>
              <a:rPr lang="en-US" dirty="0">
                <a:hlinkClick r:id="rId7"/>
              </a:rPr>
              <a:t>https://pmc.ncbi.nlm.nih.gov/articles/PMC8011436/</a:t>
            </a:r>
            <a:endParaRPr lang="en-US" dirty="0"/>
          </a:p>
          <a:p>
            <a:pPr marL="279400" indent="-203200">
              <a:buSzPct val="60000"/>
              <a:buBlip>
                <a:blip r:embed="rId3"/>
              </a:buBlip>
              <a:defRPr sz="16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IN" dirty="0">
                <a:hlinkClick r:id="rId8"/>
              </a:rPr>
              <a:t>Source 6:https://huggingface.co/</a:t>
            </a:r>
            <a:r>
              <a:rPr lang="en-IN" dirty="0" err="1">
                <a:hlinkClick r:id="rId8"/>
              </a:rPr>
              <a:t>describeai</a:t>
            </a:r>
            <a:r>
              <a:rPr lang="en-IN" dirty="0">
                <a:hlinkClick r:id="rId8"/>
              </a:rPr>
              <a:t>/</a:t>
            </a:r>
            <a:r>
              <a:rPr lang="en-IN" dirty="0" err="1">
                <a:hlinkClick r:id="rId8"/>
              </a:rPr>
              <a:t>gemini</a:t>
            </a:r>
            <a:endParaRPr dirty="0">
              <a:hlinkClick r:id="rId8"/>
            </a:endParaRP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831</Words>
  <Application>Microsoft Office PowerPoint</Application>
  <PresentationFormat>Widescreen</PresentationFormat>
  <Paragraphs>105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Calibri</vt:lpstr>
      <vt:lpstr>Chalkboard</vt:lpstr>
      <vt:lpstr>Clarendon BT Roman</vt:lpstr>
      <vt:lpstr>Courier New</vt:lpstr>
      <vt:lpstr>TradeGothic</vt:lpstr>
      <vt:lpstr>Wingdings</vt:lpstr>
      <vt:lpstr>Office Theme</vt:lpstr>
      <vt:lpstr>SMART INDIA HACKTHON 2025</vt:lpstr>
      <vt:lpstr>JurisMind</vt:lpstr>
      <vt:lpstr>TECHNICAL APPROACH</vt:lpstr>
      <vt:lpstr>FEASIBILITY AND VIABILITY</vt:lpstr>
      <vt:lpstr>IMPACT AND BENEFITS</vt:lpstr>
      <vt:lpstr>RESEARCH 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Revanth Parna</cp:lastModifiedBy>
  <cp:revision>1</cp:revision>
  <dcterms:modified xsi:type="dcterms:W3CDTF">2025-09-23T18:17:32Z</dcterms:modified>
</cp:coreProperties>
</file>