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Bold" panose="00000800000000000000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F7FC51-6683-4637-9FD0-9CDCB2BC37D9}" v="1" dt="2025-10-26T09:46:27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Parna" userId="be43f4da590c7050" providerId="LiveId" clId="{BB3D0243-2F92-40E6-A611-8AEBBA6B0ED9}"/>
    <pc:docChg chg="delSld modSld">
      <pc:chgData name="Revanth Parna" userId="be43f4da590c7050" providerId="LiveId" clId="{BB3D0243-2F92-40E6-A611-8AEBBA6B0ED9}" dt="2025-10-26T09:47:05.389" v="22" actId="20577"/>
      <pc:docMkLst>
        <pc:docMk/>
      </pc:docMkLst>
      <pc:sldChg chg="del">
        <pc:chgData name="Revanth Parna" userId="be43f4da590c7050" providerId="LiveId" clId="{BB3D0243-2F92-40E6-A611-8AEBBA6B0ED9}" dt="2025-10-26T08:58:08.934" v="13" actId="2696"/>
        <pc:sldMkLst>
          <pc:docMk/>
          <pc:sldMk cId="0" sldId="256"/>
        </pc:sldMkLst>
      </pc:sldChg>
      <pc:sldChg chg="modSp mod">
        <pc:chgData name="Revanth Parna" userId="be43f4da590c7050" providerId="LiveId" clId="{BB3D0243-2F92-40E6-A611-8AEBBA6B0ED9}" dt="2025-10-26T09:47:05.389" v="22" actId="20577"/>
        <pc:sldMkLst>
          <pc:docMk/>
          <pc:sldMk cId="0" sldId="259"/>
        </pc:sldMkLst>
        <pc:spChg chg="mod">
          <ac:chgData name="Revanth Parna" userId="be43f4da590c7050" providerId="LiveId" clId="{BB3D0243-2F92-40E6-A611-8AEBBA6B0ED9}" dt="2025-10-26T08:57:33.977" v="12" actId="2057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evanth Parna" userId="be43f4da590c7050" providerId="LiveId" clId="{BB3D0243-2F92-40E6-A611-8AEBBA6B0ED9}" dt="2025-10-26T09:47:05.389" v="22" actId="20577"/>
          <ac:spMkLst>
            <pc:docMk/>
            <pc:sldMk cId="0" sldId="259"/>
            <ac:spMk id="19" creationId="{A79109BC-7BC9-9FB6-D532-7D4DFFA71C2C}"/>
          </ac:spMkLst>
        </pc:spChg>
      </pc:sldChg>
      <pc:sldChg chg="modSp mod">
        <pc:chgData name="Revanth Parna" userId="be43f4da590c7050" providerId="LiveId" clId="{BB3D0243-2F92-40E6-A611-8AEBBA6B0ED9}" dt="2025-10-26T08:57:23.651" v="9" actId="20577"/>
        <pc:sldMkLst>
          <pc:docMk/>
          <pc:sldMk cId="0" sldId="262"/>
        </pc:sldMkLst>
        <pc:spChg chg="mod">
          <ac:chgData name="Revanth Parna" userId="be43f4da590c7050" providerId="LiveId" clId="{BB3D0243-2F92-40E6-A611-8AEBBA6B0ED9}" dt="2025-10-26T08:57:23.651" v="9" actId="20577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Revanth Parna" userId="be43f4da590c7050" providerId="LiveId" clId="{BB3D0243-2F92-40E6-A611-8AEBBA6B0ED9}" dt="2025-10-26T08:57:18.210" v="4" actId="20577"/>
        <pc:sldMkLst>
          <pc:docMk/>
          <pc:sldMk cId="0" sldId="263"/>
        </pc:sldMkLst>
        <pc:spChg chg="mod">
          <ac:chgData name="Revanth Parna" userId="be43f4da590c7050" providerId="LiveId" clId="{BB3D0243-2F92-40E6-A611-8AEBBA6B0ED9}" dt="2025-10-26T08:57:18.210" v="4" actId="20577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4" name="Group 4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5" name="Freeform 5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6" name="Group 6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7" name="Freeform 7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9" name="Freeform 9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6490011" y="541521"/>
            <a:ext cx="5307979" cy="1381335"/>
            <a:chOff x="0" y="0"/>
            <a:chExt cx="7034638" cy="183067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34640" cy="1830677"/>
            </a:xfrm>
            <a:custGeom>
              <a:avLst/>
              <a:gdLst/>
              <a:ahLst/>
              <a:cxnLst/>
              <a:rect l="l" t="t" r="r" b="b"/>
              <a:pathLst>
                <a:path w="7034640" h="1830677">
                  <a:moveTo>
                    <a:pt x="0" y="0"/>
                  </a:moveTo>
                  <a:lnTo>
                    <a:pt x="7034640" y="0"/>
                  </a:lnTo>
                  <a:lnTo>
                    <a:pt x="7034640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034638" cy="1849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323"/>
                </a:lnSpc>
              </a:pPr>
              <a:r>
                <a:rPr lang="en-US" sz="6799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</a:t>
              </a:r>
              <a:r>
                <a:rPr lang="en-US" sz="6799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150 </a:t>
              </a:r>
              <a:r>
                <a:rPr lang="en-US" sz="6799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4601201"/>
            <a:ext cx="5331440" cy="1365150"/>
            <a:chOff x="0" y="0"/>
            <a:chExt cx="7149504" cy="18306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149505" cy="1830677"/>
            </a:xfrm>
            <a:custGeom>
              <a:avLst/>
              <a:gdLst/>
              <a:ahLst/>
              <a:cxnLst/>
              <a:rect l="l" t="t" r="r" b="b"/>
              <a:pathLst>
                <a:path w="7149505" h="1830677">
                  <a:moveTo>
                    <a:pt x="0" y="0"/>
                  </a:moveTo>
                  <a:lnTo>
                    <a:pt x="7149505" y="0"/>
                  </a:lnTo>
                  <a:lnTo>
                    <a:pt x="7149505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149504" cy="1840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63"/>
                </a:lnSpc>
              </a:pPr>
              <a:r>
                <a:rPr lang="en-US" sz="43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Members: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78158" y="5726815"/>
            <a:ext cx="7158399" cy="2200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8741" lvl="1" indent="-289371" algn="l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Ragi Harshith Reddy </a:t>
            </a:r>
          </a:p>
          <a:p>
            <a:pPr marL="578741" lvl="1" indent="-289371" algn="l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Parna Revanth Kumar </a:t>
            </a:r>
          </a:p>
          <a:p>
            <a:pPr marL="578741" lvl="1" indent="-289371" algn="l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Vishwanath</a:t>
            </a:r>
          </a:p>
          <a:p>
            <a:pPr marL="578741" lvl="1" indent="-289371" algn="l">
              <a:lnSpc>
                <a:spcPts val="4449"/>
              </a:lnSpc>
              <a:buAutoNum type="arabicPeriod"/>
            </a:pPr>
            <a:r>
              <a:rPr lang="en-US" sz="268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Abhishek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1922856"/>
            <a:ext cx="16192500" cy="1360890"/>
            <a:chOff x="0" y="0"/>
            <a:chExt cx="9949952" cy="183067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49953" cy="1830677"/>
            </a:xfrm>
            <a:custGeom>
              <a:avLst/>
              <a:gdLst/>
              <a:ahLst/>
              <a:cxnLst/>
              <a:rect l="l" t="t" r="r" b="b"/>
              <a:pathLst>
                <a:path w="9949953" h="1830677">
                  <a:moveTo>
                    <a:pt x="0" y="0"/>
                  </a:moveTo>
                  <a:lnTo>
                    <a:pt x="9949953" y="0"/>
                  </a:lnTo>
                  <a:lnTo>
                    <a:pt x="9949953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9949952" cy="1840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63"/>
                </a:lnSpc>
              </a:pPr>
              <a:r>
                <a:rPr lang="en-US" sz="43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 Title:- Project Enrollment &amp; Allocation System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600071"/>
            <a:ext cx="7274992" cy="1366770"/>
            <a:chOff x="0" y="0"/>
            <a:chExt cx="9699989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99990" cy="1822359"/>
            </a:xfrm>
            <a:custGeom>
              <a:avLst/>
              <a:gdLst/>
              <a:ahLst/>
              <a:cxnLst/>
              <a:rect l="l" t="t" r="r" b="b"/>
              <a:pathLst>
                <a:path w="9699990" h="1822359">
                  <a:moveTo>
                    <a:pt x="0" y="0"/>
                  </a:moveTo>
                  <a:lnTo>
                    <a:pt x="9699990" y="0"/>
                  </a:lnTo>
                  <a:lnTo>
                    <a:pt x="9699990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9699989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Proposed Solution</a:t>
              </a:r>
              <a:r>
                <a:rPr lang="en-US" sz="5000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773400" y="336499"/>
            <a:ext cx="189830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242B6C-A26D-ACB2-609F-A38487DCE549}"/>
              </a:ext>
            </a:extLst>
          </p:cNvPr>
          <p:cNvSpPr txBox="1"/>
          <p:nvPr/>
        </p:nvSpPr>
        <p:spPr>
          <a:xfrm>
            <a:off x="1190625" y="2095500"/>
            <a:ext cx="15815714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Compared to the existing traditional project allocations</a:t>
            </a:r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,Ours propose a solution that overcome all of the following challenges:-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-&gt;Time consuming review process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-&gt;No standardized skill assessment for project matching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-&gt;Certification forgery and Credential Fraud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-&gt;Lack of transparency in Decision making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-&gt;Poor optimization of resumes leading to missed opportunities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Our Solution:-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Our proposed Solution is an Intelligent-Automated Platform that combines AI-matching , blockchain verification as well as on-spot collaboration for optimal project allocation. It transforms the error-prone process into an intelligent,transparent,optimal system. 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Key Features:-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Multi-Tenant Architecture(Super Admins manage companies, Admins post, review applications, etc)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AI powered Matching(Smart Project Recommendation, ATS-optimized resume, Skill-based filtering)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Company-Student Collaboration(Dedicated communication channels, Secure company-scoped workspaces)</a:t>
            </a:r>
          </a:p>
          <a:p>
            <a:pPr marL="342900" indent="-342900">
              <a:buFont typeface="Wingdings" panose="05000000000000000000" pitchFamily="2" charset="2"/>
              <a:buChar char="è"/>
            </a:pP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Reliable 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579884"/>
            <a:ext cx="5015677" cy="1366770"/>
            <a:chOff x="0" y="0"/>
            <a:chExt cx="6687569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87570" cy="1822359"/>
            </a:xfrm>
            <a:custGeom>
              <a:avLst/>
              <a:gdLst/>
              <a:ahLst/>
              <a:cxnLst/>
              <a:rect l="l" t="t" r="r" b="b"/>
              <a:pathLst>
                <a:path w="6687570" h="1822359">
                  <a:moveTo>
                    <a:pt x="0" y="0"/>
                  </a:moveTo>
                  <a:lnTo>
                    <a:pt x="6687570" y="0"/>
                  </a:lnTo>
                  <a:lnTo>
                    <a:pt x="6687570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6687569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Tech Stack </a:t>
              </a:r>
              <a:r>
                <a:rPr lang="en-US" sz="5000" b="1" dirty="0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849600" y="336499"/>
            <a:ext cx="182210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9109BC-7BC9-9FB6-D532-7D4DFFA71C2C}"/>
              </a:ext>
            </a:extLst>
          </p:cNvPr>
          <p:cNvSpPr txBox="1"/>
          <p:nvPr/>
        </p:nvSpPr>
        <p:spPr>
          <a:xfrm>
            <a:off x="762001" y="2171700"/>
            <a:ext cx="17754600" cy="901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Our Tech-Stack is as </a:t>
            </a:r>
            <a:r>
              <a:rPr lang="en-IN" sz="2400" b="1">
                <a:solidFill>
                  <a:schemeClr val="bg1"/>
                </a:solidFill>
                <a:latin typeface="Montserrat" panose="00000500000000000000" pitchFamily="2" charset="0"/>
              </a:rPr>
              <a:t>follows:-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fontAlgn="base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Frontend: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React 18 with Tailwind CSS, Framer Motion, and Recharts for modern, animated, data-driven UI; Socket.IO Client for real-time updates.</a:t>
            </a:r>
            <a:b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fontAlgn="base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Backend: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Node.js + Express powering REST APIs with MongoDB (via Mongoose), Redis for caching/sessions, and Socket.IO for live communication.</a:t>
            </a:r>
          </a:p>
          <a:p>
            <a:pPr fontAlgn="base"/>
            <a:b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fontAlgn="base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Security &amp; Communication: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JWT for authentication, </a:t>
            </a:r>
            <a:r>
              <a:rPr lang="en-IN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Nodemailer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for emails, and Twilio for SMS notifications.</a:t>
            </a:r>
            <a:b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b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</a:b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fontAlgn="base"/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Blockchain &amp; Storage: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Polygon for smart contracts, IPFS/</a:t>
            </a:r>
            <a:r>
              <a:rPr lang="en-IN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Infura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for decentralized file storage, Web3.js for blockchain integration, and </a:t>
            </a:r>
            <a:r>
              <a:rPr lang="en-IN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PDFKit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for digital certificates.</a:t>
            </a: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DevOps: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Docker with multi-stage builds for lightweight containers, managed via Nginx as a reverse proxy.</a:t>
            </a: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endParaRPr lang="en-IN" sz="2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584763"/>
            <a:ext cx="7776685" cy="1366770"/>
            <a:chOff x="0" y="0"/>
            <a:chExt cx="10368913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68914" cy="1822359"/>
            </a:xfrm>
            <a:custGeom>
              <a:avLst/>
              <a:gdLst/>
              <a:ahLst/>
              <a:cxnLst/>
              <a:rect l="l" t="t" r="r" b="b"/>
              <a:pathLst>
                <a:path w="10368914" h="1822359">
                  <a:moveTo>
                    <a:pt x="0" y="0"/>
                  </a:moveTo>
                  <a:lnTo>
                    <a:pt x="10368914" y="0"/>
                  </a:lnTo>
                  <a:lnTo>
                    <a:pt x="10368914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368913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Architecture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697200" y="336499"/>
            <a:ext cx="1974506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 no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5CC059-EFCB-61E7-ECE5-53AC7B4BDD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699" y="2041385"/>
            <a:ext cx="9244013" cy="62409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170A0D3-8F3E-A84F-7BBD-408249A6168F}"/>
              </a:ext>
            </a:extLst>
          </p:cNvPr>
          <p:cNvSpPr txBox="1"/>
          <p:nvPr/>
        </p:nvSpPr>
        <p:spPr>
          <a:xfrm>
            <a:off x="11049000" y="1951533"/>
            <a:ext cx="7239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Unique Features:-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-&gt;Companies are isolated from one another(Can’t see another’s work)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-&gt;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Students must join approved companies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-&gt;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Super Admin has overall access and is the company entity.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-&gt;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Admin sees the context of an answer instead of a single word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-&gt;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Case Study questions for real life problem solving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-&gt;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Timer based assessment with anti-cheat monitoring.</a:t>
            </a:r>
          </a:p>
          <a:p>
            <a:endParaRPr lang="en-IN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542303"/>
            <a:ext cx="6745500" cy="1366770"/>
            <a:chOff x="0" y="0"/>
            <a:chExt cx="8994000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94001" cy="1822359"/>
            </a:xfrm>
            <a:custGeom>
              <a:avLst/>
              <a:gdLst/>
              <a:ahLst/>
              <a:cxnLst/>
              <a:rect l="l" t="t" r="r" b="b"/>
              <a:pathLst>
                <a:path w="8994001" h="1822359">
                  <a:moveTo>
                    <a:pt x="0" y="0"/>
                  </a:moveTo>
                  <a:lnTo>
                    <a:pt x="8994001" y="0"/>
                  </a:lnTo>
                  <a:lnTo>
                    <a:pt x="8994001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8994000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Implementation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90625" y="9185486"/>
            <a:ext cx="1095375" cy="533401"/>
            <a:chOff x="0" y="0"/>
            <a:chExt cx="1460500" cy="71120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460500" cy="711200"/>
            </a:xfrm>
            <a:custGeom>
              <a:avLst/>
              <a:gdLst/>
              <a:ahLst/>
              <a:cxnLst/>
              <a:rect l="l" t="t" r="r" b="b"/>
              <a:pathLst>
                <a:path w="1460500" h="711200">
                  <a:moveTo>
                    <a:pt x="0" y="0"/>
                  </a:moveTo>
                  <a:lnTo>
                    <a:pt x="1460500" y="0"/>
                  </a:lnTo>
                  <a:lnTo>
                    <a:pt x="14605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5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590800" y="9440968"/>
            <a:ext cx="5667374" cy="19050"/>
            <a:chOff x="0" y="0"/>
            <a:chExt cx="7556499" cy="254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272713" y="9440968"/>
            <a:ext cx="5667373" cy="19050"/>
            <a:chOff x="0" y="0"/>
            <a:chExt cx="7556497" cy="254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36640" y="9117337"/>
            <a:ext cx="669699" cy="669699"/>
          </a:xfrm>
          <a:custGeom>
            <a:avLst/>
            <a:gdLst/>
            <a:ahLst/>
            <a:cxnLst/>
            <a:rect l="l" t="t" r="r" b="b"/>
            <a:pathLst>
              <a:path w="669699" h="669699">
                <a:moveTo>
                  <a:pt x="0" y="0"/>
                </a:moveTo>
                <a:lnTo>
                  <a:pt x="669699" y="0"/>
                </a:lnTo>
                <a:lnTo>
                  <a:pt x="669699" y="669699"/>
                </a:lnTo>
                <a:lnTo>
                  <a:pt x="0" y="669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7774200" y="9326675"/>
            <a:ext cx="2739600" cy="314170"/>
            <a:chOff x="0" y="0"/>
            <a:chExt cx="3652800" cy="4188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52800" cy="418894"/>
            </a:xfrm>
            <a:custGeom>
              <a:avLst/>
              <a:gdLst/>
              <a:ahLst/>
              <a:cxnLst/>
              <a:rect l="l" t="t" r="r" b="b"/>
              <a:pathLst>
                <a:path w="3652800" h="418894">
                  <a:moveTo>
                    <a:pt x="0" y="0"/>
                  </a:moveTo>
                  <a:lnTo>
                    <a:pt x="3652800" y="0"/>
                  </a:lnTo>
                  <a:lnTo>
                    <a:pt x="3652800" y="418894"/>
                  </a:lnTo>
                  <a:lnTo>
                    <a:pt x="0" y="4188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652800" cy="4284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2"/>
                </a:lnSpc>
              </a:pPr>
              <a:r>
                <a:rPr lang="en-US" sz="1600" b="1">
                  <a:solidFill>
                    <a:srgbClr val="D0CCE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CBIT Hacktoberfest 2025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849600" y="336499"/>
            <a:ext cx="18221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150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E3B0822-9EAD-9B97-8D25-B41F3EB924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55" y="2078068"/>
            <a:ext cx="12619814" cy="626138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8AF302E-8267-11D7-8ECC-7AE14921957F}"/>
              </a:ext>
            </a:extLst>
          </p:cNvPr>
          <p:cNvSpPr txBox="1"/>
          <p:nvPr/>
        </p:nvSpPr>
        <p:spPr>
          <a:xfrm>
            <a:off x="12683724" y="1909073"/>
            <a:ext cx="5451876" cy="789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solidFill>
                  <a:schemeClr val="bg1"/>
                </a:solidFill>
                <a:latin typeface="Montserrat" panose="00000500000000000000" pitchFamily="2" charset="0"/>
              </a:rPr>
              <a:t>1. Docker Multi-Container Setup</a:t>
            </a:r>
            <a:endParaRPr lang="en-IN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Services: MongoDB, Redis, Main Backend (5000), Super Admin (5001), Frontend (3000), Nginx (80)</a:t>
            </a: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✅ One-command deploy: docker-compose up</a:t>
            </a:r>
          </a:p>
          <a:p>
            <a:r>
              <a:rPr lang="en-IN" sz="2300" b="1" dirty="0">
                <a:solidFill>
                  <a:schemeClr val="bg1"/>
                </a:solidFill>
                <a:latin typeface="Montserrat" panose="00000500000000000000" pitchFamily="2" charset="0"/>
              </a:rPr>
              <a:t>2. Database Design</a:t>
            </a:r>
            <a:endParaRPr lang="en-IN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7 Models: User, Company, Project, Application, Resume, </a:t>
            </a:r>
            <a:r>
              <a:rPr lang="en-IN" sz="2300" dirty="0" err="1">
                <a:solidFill>
                  <a:schemeClr val="bg1"/>
                </a:solidFill>
                <a:latin typeface="Montserrat" panose="00000500000000000000" pitchFamily="2" charset="0"/>
              </a:rPr>
              <a:t>TestAttempt</a:t>
            </a:r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, Certificate</a:t>
            </a: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Compound indexes for speed &amp; auto data seeding</a:t>
            </a:r>
          </a:p>
          <a:p>
            <a:r>
              <a:rPr lang="en-IN" sz="2300" b="1" dirty="0">
                <a:solidFill>
                  <a:schemeClr val="bg1"/>
                </a:solidFill>
                <a:latin typeface="Montserrat" panose="00000500000000000000" pitchFamily="2" charset="0"/>
              </a:rPr>
              <a:t>3. API Development</a:t>
            </a:r>
            <a:endParaRPr lang="en-IN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50+ REST APIs with auth &amp; RBAC</a:t>
            </a: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Input validation (Joi/Express-Validator), central error handling</a:t>
            </a:r>
          </a:p>
          <a:p>
            <a:r>
              <a:rPr lang="en-IN" sz="2300" b="1" dirty="0">
                <a:solidFill>
                  <a:schemeClr val="bg1"/>
                </a:solidFill>
                <a:latin typeface="Montserrat" panose="00000500000000000000" pitchFamily="2" charset="0"/>
              </a:rPr>
              <a:t>4. Frontend State Management</a:t>
            </a:r>
            <a:endParaRPr lang="en-IN" sz="23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React Context (auth), React Query (server state)</a:t>
            </a:r>
          </a:p>
          <a:p>
            <a:r>
              <a:rPr lang="en-IN" sz="2300" dirty="0" err="1">
                <a:solidFill>
                  <a:schemeClr val="bg1"/>
                </a:solidFill>
                <a:latin typeface="Montserrat" panose="00000500000000000000" pitchFamily="2" charset="0"/>
              </a:rPr>
              <a:t>LocalStorage</a:t>
            </a:r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 (UI </a:t>
            </a:r>
            <a:r>
              <a:rPr lang="en-IN" sz="2300" dirty="0" err="1">
                <a:solidFill>
                  <a:schemeClr val="bg1"/>
                </a:solidFill>
                <a:latin typeface="Montserrat" panose="00000500000000000000" pitchFamily="2" charset="0"/>
              </a:rPr>
              <a:t>prefs</a:t>
            </a:r>
            <a:r>
              <a:rPr lang="en-IN" sz="2300" dirty="0">
                <a:solidFill>
                  <a:schemeClr val="bg1"/>
                </a:solidFill>
                <a:latin typeface="Montserrat" panose="00000500000000000000" pitchFamily="2" charset="0"/>
              </a:rPr>
              <a:t>), Socket.IO (real-time updates)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660032"/>
            <a:ext cx="9709648" cy="1373007"/>
            <a:chOff x="0" y="0"/>
            <a:chExt cx="12946197" cy="18306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46198" cy="1830677"/>
            </a:xfrm>
            <a:custGeom>
              <a:avLst/>
              <a:gdLst/>
              <a:ahLst/>
              <a:cxnLst/>
              <a:rect l="l" t="t" r="r" b="b"/>
              <a:pathLst>
                <a:path w="12946198" h="1830677">
                  <a:moveTo>
                    <a:pt x="0" y="0"/>
                  </a:moveTo>
                  <a:lnTo>
                    <a:pt x="12946198" y="0"/>
                  </a:lnTo>
                  <a:lnTo>
                    <a:pt x="12946198" y="1830677"/>
                  </a:lnTo>
                  <a:lnTo>
                    <a:pt x="0" y="1830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2946197" cy="1840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Challenges and Outcomes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90625" y="9117337"/>
            <a:ext cx="15815714" cy="669699"/>
            <a:chOff x="0" y="0"/>
            <a:chExt cx="21087619" cy="892932"/>
          </a:xfrm>
        </p:grpSpPr>
        <p:grpSp>
          <p:nvGrpSpPr>
            <p:cNvPr id="7" name="Group 7"/>
            <p:cNvGrpSpPr>
              <a:grpSpLocks noChangeAspect="1"/>
            </p:cNvGrpSpPr>
            <p:nvPr/>
          </p:nvGrpSpPr>
          <p:grpSpPr>
            <a:xfrm>
              <a:off x="0" y="90865"/>
              <a:ext cx="1460500" cy="711201"/>
              <a:chOff x="0" y="0"/>
              <a:chExt cx="1460500" cy="711201"/>
            </a:xfrm>
          </p:grpSpPr>
          <p:sp>
            <p:nvSpPr>
              <p:cNvPr id="8" name="Freeform 8" descr="preencoded.png"/>
              <p:cNvSpPr/>
              <p:nvPr/>
            </p:nvSpPr>
            <p:spPr>
              <a:xfrm>
                <a:off x="0" y="0"/>
                <a:ext cx="14605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460500" h="711200">
                    <a:moveTo>
                      <a:pt x="0" y="0"/>
                    </a:moveTo>
                    <a:lnTo>
                      <a:pt x="1460500" y="0"/>
                    </a:lnTo>
                    <a:lnTo>
                      <a:pt x="1460500" y="711200"/>
                    </a:lnTo>
                    <a:lnTo>
                      <a:pt x="0" y="7112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b="-456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9" name="Group 9"/>
            <p:cNvGrpSpPr>
              <a:grpSpLocks noChangeAspect="1"/>
            </p:cNvGrpSpPr>
            <p:nvPr/>
          </p:nvGrpSpPr>
          <p:grpSpPr>
            <a:xfrm>
              <a:off x="1866900" y="431508"/>
              <a:ext cx="7556499" cy="25400"/>
              <a:chOff x="0" y="0"/>
              <a:chExt cx="7556499" cy="25400"/>
            </a:xfrm>
          </p:grpSpPr>
          <p:sp>
            <p:nvSpPr>
              <p:cNvPr id="10" name="Freeform 10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" name="Group 11"/>
            <p:cNvGrpSpPr>
              <a:grpSpLocks noChangeAspect="1"/>
            </p:cNvGrpSpPr>
            <p:nvPr/>
          </p:nvGrpSpPr>
          <p:grpSpPr>
            <a:xfrm>
              <a:off x="12109451" y="431508"/>
              <a:ext cx="7556497" cy="25400"/>
              <a:chOff x="0" y="0"/>
              <a:chExt cx="7556497" cy="25400"/>
            </a:xfrm>
          </p:grpSpPr>
          <p:sp>
            <p:nvSpPr>
              <p:cNvPr id="12" name="Freeform 12" descr="preencoded.png"/>
              <p:cNvSpPr/>
              <p:nvPr/>
            </p:nvSpPr>
            <p:spPr>
              <a:xfrm>
                <a:off x="0" y="0"/>
                <a:ext cx="75565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7556500" h="25400">
                    <a:moveTo>
                      <a:pt x="0" y="0"/>
                    </a:moveTo>
                    <a:lnTo>
                      <a:pt x="7556500" y="0"/>
                    </a:lnTo>
                    <a:lnTo>
                      <a:pt x="7556500" y="25400"/>
                    </a:lnTo>
                    <a:lnTo>
                      <a:pt x="0" y="254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b="-24895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0194687" y="0"/>
              <a:ext cx="892932" cy="892932"/>
            </a:xfrm>
            <a:custGeom>
              <a:avLst/>
              <a:gdLst/>
              <a:ahLst/>
              <a:cxnLst/>
              <a:rect l="l" t="t" r="r" b="b"/>
              <a:pathLst>
                <a:path w="892932" h="892932">
                  <a:moveTo>
                    <a:pt x="0" y="0"/>
                  </a:moveTo>
                  <a:lnTo>
                    <a:pt x="892932" y="0"/>
                  </a:lnTo>
                  <a:lnTo>
                    <a:pt x="892932" y="892932"/>
                  </a:lnTo>
                  <a:lnTo>
                    <a:pt x="0" y="8929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778100" y="279117"/>
              <a:ext cx="3652800" cy="418894"/>
              <a:chOff x="0" y="0"/>
              <a:chExt cx="3652800" cy="41889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3652800" cy="418894"/>
              </a:xfrm>
              <a:custGeom>
                <a:avLst/>
                <a:gdLst/>
                <a:ahLst/>
                <a:cxnLst/>
                <a:rect l="l" t="t" r="r" b="b"/>
                <a:pathLst>
                  <a:path w="3652800" h="418894">
                    <a:moveTo>
                      <a:pt x="0" y="0"/>
                    </a:moveTo>
                    <a:lnTo>
                      <a:pt x="3652800" y="0"/>
                    </a:lnTo>
                    <a:lnTo>
                      <a:pt x="3652800" y="418894"/>
                    </a:lnTo>
                    <a:lnTo>
                      <a:pt x="0" y="41889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9525"/>
                <a:ext cx="3652800" cy="42841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002"/>
                  </a:lnSpc>
                </a:pPr>
                <a:r>
                  <a:rPr lang="en-US" sz="1600" b="1">
                    <a:solidFill>
                      <a:srgbClr val="D0CCE3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CBIT Hacktoberfest 2025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15773400" y="336499"/>
            <a:ext cx="18983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5BA30-0860-3A35-C04F-F0C998663AA7}"/>
              </a:ext>
            </a:extLst>
          </p:cNvPr>
          <p:cNvSpPr txBox="1"/>
          <p:nvPr/>
        </p:nvSpPr>
        <p:spPr>
          <a:xfrm>
            <a:off x="1028700" y="2033039"/>
            <a:ext cx="162306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1. Multi-Tenant Isolation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Problem: Cross-company data leak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Fix: </a:t>
            </a:r>
            <a:r>
              <a:rPr lang="en-IN" sz="2400" dirty="0" err="1">
                <a:solidFill>
                  <a:schemeClr val="bg1"/>
                </a:solidFill>
                <a:latin typeface="Montserrat" panose="00000500000000000000" pitchFamily="2" charset="0"/>
              </a:rPr>
              <a:t>companyId</a:t>
            </a:r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 in all models + auto filter middleware + super admin bypass</a:t>
            </a: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2. Real-Time Test Monitoring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Problem: Multiple tab cheating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Fix: Socket.IO rooms, tab-switch &amp; network tracking, 3-strike ban</a:t>
            </a: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3. Resume ATS Scoring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Problem: Complex scoring logic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Fix: Keyword extraction, weighted scoring, live suggestions</a:t>
            </a: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4. Blockchain Integration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Problem: High Ethereum gas fees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Fix: Moved to Polygon, batch minting, IPFS metadata</a:t>
            </a: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5. Responsive Sidebar Layout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Problem: Hidden content on expand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Fix: Flexbox layout, smooth CSS transitions, saved sidebar state</a:t>
            </a:r>
          </a:p>
          <a:p>
            <a:r>
              <a:rPr lang="en-IN" sz="2400" b="1" dirty="0">
                <a:solidFill>
                  <a:schemeClr val="bg1"/>
                </a:solidFill>
                <a:latin typeface="Montserrat" panose="00000500000000000000" pitchFamily="2" charset="0"/>
              </a:rPr>
              <a:t>6. PDF Generation in Docker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Problem: Puppeteer Chromium issue</a:t>
            </a:r>
          </a:p>
          <a:p>
            <a:r>
              <a:rPr lang="en-IN" sz="2400" dirty="0">
                <a:solidFill>
                  <a:schemeClr val="bg1"/>
                </a:solidFill>
                <a:latin typeface="Montserrat" panose="00000500000000000000" pitchFamily="2" charset="0"/>
              </a:rPr>
              <a:t>Fix: Switched to PDFKit → faster, lighter, no browser dependency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700" y="583749"/>
            <a:ext cx="7773917" cy="1366770"/>
            <a:chOff x="0" y="0"/>
            <a:chExt cx="10365222" cy="18223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65223" cy="1822359"/>
            </a:xfrm>
            <a:custGeom>
              <a:avLst/>
              <a:gdLst/>
              <a:ahLst/>
              <a:cxnLst/>
              <a:rect l="l" t="t" r="r" b="b"/>
              <a:pathLst>
                <a:path w="10365223" h="1822359">
                  <a:moveTo>
                    <a:pt x="0" y="0"/>
                  </a:moveTo>
                  <a:lnTo>
                    <a:pt x="10365223" y="0"/>
                  </a:lnTo>
                  <a:lnTo>
                    <a:pt x="10365223" y="1822359"/>
                  </a:lnTo>
                  <a:lnTo>
                    <a:pt x="0" y="1822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0365222" cy="18318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120"/>
                </a:lnSpc>
              </a:pP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{ </a:t>
              </a:r>
              <a:r>
                <a:rPr lang="en-US" sz="500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Impact &amp; Use Cases </a:t>
              </a:r>
              <a:r>
                <a:rPr lang="en-US" sz="5000" b="1">
                  <a:solidFill>
                    <a:srgbClr val="A0A0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}</a:t>
              </a: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90625" y="9185486"/>
            <a:ext cx="1095375" cy="533401"/>
            <a:chOff x="0" y="0"/>
            <a:chExt cx="1460500" cy="711201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460500" cy="711200"/>
            </a:xfrm>
            <a:custGeom>
              <a:avLst/>
              <a:gdLst/>
              <a:ahLst/>
              <a:cxnLst/>
              <a:rect l="l" t="t" r="r" b="b"/>
              <a:pathLst>
                <a:path w="1460500" h="711200">
                  <a:moveTo>
                    <a:pt x="0" y="0"/>
                  </a:moveTo>
                  <a:lnTo>
                    <a:pt x="1460500" y="0"/>
                  </a:lnTo>
                  <a:lnTo>
                    <a:pt x="1460500" y="711200"/>
                  </a:lnTo>
                  <a:lnTo>
                    <a:pt x="0" y="711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5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590800" y="9440968"/>
            <a:ext cx="5667374" cy="19050"/>
            <a:chOff x="0" y="0"/>
            <a:chExt cx="7556499" cy="254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272713" y="9440968"/>
            <a:ext cx="5667373" cy="19050"/>
            <a:chOff x="0" y="0"/>
            <a:chExt cx="7556497" cy="254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556500" cy="25400"/>
            </a:xfrm>
            <a:custGeom>
              <a:avLst/>
              <a:gdLst/>
              <a:ahLst/>
              <a:cxnLst/>
              <a:rect l="l" t="t" r="r" b="b"/>
              <a:pathLst>
                <a:path w="7556500" h="25400">
                  <a:moveTo>
                    <a:pt x="0" y="0"/>
                  </a:moveTo>
                  <a:lnTo>
                    <a:pt x="7556500" y="0"/>
                  </a:lnTo>
                  <a:lnTo>
                    <a:pt x="75565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489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36640" y="9117337"/>
            <a:ext cx="669699" cy="669699"/>
          </a:xfrm>
          <a:custGeom>
            <a:avLst/>
            <a:gdLst/>
            <a:ahLst/>
            <a:cxnLst/>
            <a:rect l="l" t="t" r="r" b="b"/>
            <a:pathLst>
              <a:path w="669699" h="669699">
                <a:moveTo>
                  <a:pt x="0" y="0"/>
                </a:moveTo>
                <a:lnTo>
                  <a:pt x="669699" y="0"/>
                </a:lnTo>
                <a:lnTo>
                  <a:pt x="669699" y="669699"/>
                </a:lnTo>
                <a:lnTo>
                  <a:pt x="0" y="669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7774200" y="9326675"/>
            <a:ext cx="2739600" cy="314170"/>
            <a:chOff x="0" y="0"/>
            <a:chExt cx="3652800" cy="4188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52800" cy="418894"/>
            </a:xfrm>
            <a:custGeom>
              <a:avLst/>
              <a:gdLst/>
              <a:ahLst/>
              <a:cxnLst/>
              <a:rect l="l" t="t" r="r" b="b"/>
              <a:pathLst>
                <a:path w="3652800" h="418894">
                  <a:moveTo>
                    <a:pt x="0" y="0"/>
                  </a:moveTo>
                  <a:lnTo>
                    <a:pt x="3652800" y="0"/>
                  </a:lnTo>
                  <a:lnTo>
                    <a:pt x="3652800" y="418894"/>
                  </a:lnTo>
                  <a:lnTo>
                    <a:pt x="0" y="4188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3652800" cy="4284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2"/>
                </a:lnSpc>
              </a:pPr>
              <a:r>
                <a:rPr lang="en-US" sz="1600" b="1">
                  <a:solidFill>
                    <a:srgbClr val="D0CCE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CBIT Hacktoberfest 2025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5773400" y="336499"/>
            <a:ext cx="1898306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13804C-2AE8-BF1A-50CA-2E23578456CB}"/>
              </a:ext>
            </a:extLst>
          </p:cNvPr>
          <p:cNvSpPr txBox="1"/>
          <p:nvPr/>
        </p:nvSpPr>
        <p:spPr>
          <a:xfrm>
            <a:off x="1190625" y="1950519"/>
            <a:ext cx="16068675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Impact</a:t>
            </a:r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Students: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50% faster applications, 80%+ ATS scores, verified blockchain certificates, AI project matches, transparent tracking.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Company Admins: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70% less review time, automated skill tests, chat &amp; analytics, real-time updates.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Super Admins: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Centralized control, system analytics, secure workflows, usage insights.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Use Cases</a:t>
            </a:r>
            <a:endParaRPr lang="en-US" sz="32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Universities: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Auto shortlisting, blockchain certificates.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Corporates: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Cross-department upskilling with tracked progress.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Open Source: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Public projects &amp; blockchain proof of contribution.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Freelance: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Verified skill-based matching.</a:t>
            </a:r>
          </a:p>
          <a:p>
            <a:r>
              <a:rPr lang="en-US" sz="3200" b="1" dirty="0">
                <a:solidFill>
                  <a:schemeClr val="bg1"/>
                </a:solidFill>
                <a:latin typeface="Montserrat" panose="00000500000000000000" pitchFamily="2" charset="0"/>
              </a:rPr>
              <a:t>Hackathons: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 AI team formation &amp; instant certification.</a:t>
            </a:r>
          </a:p>
          <a:p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788</Words>
  <Application>Microsoft Office PowerPoint</Application>
  <PresentationFormat>Custom</PresentationFormat>
  <Paragraphs>132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Wingdings</vt:lpstr>
      <vt:lpstr>Montserrat</vt:lpstr>
      <vt:lpstr>Arial</vt:lpstr>
      <vt:lpstr>Montserrat Bold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PPT__Template</dc:title>
  <cp:lastModifiedBy>Revanth Parna</cp:lastModifiedBy>
  <cp:revision>3</cp:revision>
  <dcterms:created xsi:type="dcterms:W3CDTF">2006-08-16T00:00:00Z</dcterms:created>
  <dcterms:modified xsi:type="dcterms:W3CDTF">2025-10-26T09:47:06Z</dcterms:modified>
  <dc:identifier>DAG2uVeZFt4</dc:identifier>
</cp:coreProperties>
</file>